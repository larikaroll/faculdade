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F3715-90F6-4F0F-9F4B-ACA3D0C5D92C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93BD4-B58D-4FBD-A793-75CA95F857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59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93BD4-B58D-4FBD-A793-75CA95F8575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761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93BD4-B58D-4FBD-A793-75CA95F8575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30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2FDDB-AB66-4AEB-A5C2-E56757059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B659CF-B679-4ADB-88F4-D7D68268D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2A2799-0647-4C4C-915D-1710344C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B4365B-9954-480B-B467-4E857BA4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3C7BDF-2AC7-413A-9BD9-595B8A67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09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2424B-BF2E-4022-A3AF-694B6D82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1BD6D2-7476-4F36-B188-EF842E8AD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F9AB91-2D18-4046-A2EB-10BEF1F0F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E844E9-1307-4CBA-A5C1-98714F66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178059-FE7A-4760-AF9D-62C46CD7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920E8-C78D-4AFF-AEF9-DB784541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C5974A-8ACF-43CB-893C-20E178D0C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EE7EE8-B912-41EA-A6C9-EE1F26F5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392827-B303-4BF1-A257-7BF64145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D53A0F-9D52-40C9-905A-71D8229F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06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4AACA-6CB7-4C3D-9E9D-C47152E9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9FA1B-A655-4A22-98C7-F66DF593A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422151-6467-4AA1-AAC4-3811CDD03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C6D6BE-4183-4CD0-8E87-E56C2546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CE7E9A-0FE5-4D2C-A395-67AA54A8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F7A8BE-CC37-4CDB-B417-54B13FC2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3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51801-AA85-4729-83DB-F4FB43922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B884C2-5FC1-4062-9CCE-53AF8C366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BA5DC7-72E0-4281-B663-02A315BC1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499F70-14C9-4AC1-8DDC-308EE5DEA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C79B05-FB37-4F61-BFA2-2346C761D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205809-8549-4D1A-B95F-3C9A7283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0AD06A-869E-460E-90C9-F77BE5BA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3FF662-DD98-498D-AB8C-6B7949E7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45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D2554-C106-4761-8C99-89BDFD4C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D82EED-ECA6-4BA2-94B5-FFB4916A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D0D74A-D10D-498B-9D97-AEE84506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1A12640-2E8E-4AB0-B907-F5BDAA8D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41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A7975E-6FC3-432D-B34D-96930945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8745733-A09F-4207-A0B0-79222B1A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BED730-7BBB-464F-9224-5B32F9C3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82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DBBA9-17CE-45BA-9204-6D9DA1155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1BFE5-C22E-47A1-9D64-B20B2D334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B33BC1-7C3F-4D59-8855-D993835EA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9562ED-B3A2-4B95-A929-AD130B2C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83815B-F4C0-400B-BF1B-6A8F44AC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EC5DF-4788-45EE-BD62-F29FDD56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09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DE88C-C715-4813-A28F-1FB17A5D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5BCF0BB-AD2D-42B5-B2D9-1EC90B0D5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6A9D2C-55F7-43D4-9E68-B67D48B3C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660995-EC56-4C4E-8825-7C08A1642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C72439-26D0-4DB6-9D2D-3DF1B21F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8EBB67-2226-4C94-A004-C105A30F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5D5BA-5377-4B5F-B142-2C0FF01D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AF346B-E1B6-4EE5-9E7E-35E3D8E32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2D4574-0456-4BDE-9DFB-0F405446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6BE92C-83B1-444F-B3E0-DFBA59E1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3A501A-F9E1-4128-A212-6D3486E8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53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592AE3-48B3-4193-9829-784890818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E7C582-60B9-429C-944F-3E5D3F27A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40F30B-1351-48FC-B637-A7FF8446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44225A-17E7-4CEC-853E-499CF2F2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E3F4EA-9AA9-4D8D-BD9F-E40E0FC0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16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00DE97-9135-4E84-8E5F-A1C6F84D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A17C7C-2B36-469D-988E-66540DCA4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7008E0-3FF2-4DFF-A674-ADCAB554F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5A7EB-C055-4CDB-8DCD-B87153949276}" type="datetimeFigureOut">
              <a:rPr lang="pt-BR" smtClean="0"/>
              <a:t>21/03/2022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DD5493-CD58-4B5C-A82B-78EA1CC4D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377E7D-8C94-4AEC-A7BD-3A7B5B11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C5AA-ECC8-4B40-9F1E-C9D57981D9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967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s://blog.mettzer.com/normas-abn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B486E-8E18-4F61-81FB-289110121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880" y="186662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  <a:t> </a:t>
            </a: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  <a:t>ABNT</a:t>
            </a:r>
            <a:b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</a:br>
            <a: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  <a:t>Associação Brasileira de Normas Técnicas</a:t>
            </a:r>
          </a:p>
        </p:txBody>
      </p:sp>
      <p:pic>
        <p:nvPicPr>
          <p:cNvPr id="11" name="Picture 6" descr="Home-C/-admn - Profisind">
            <a:extLst>
              <a:ext uri="{FF2B5EF4-FFF2-40B4-BE49-F238E27FC236}">
                <a16:creationId xmlns:a16="http://schemas.microsoft.com/office/drawing/2014/main" id="{D2DFAD6E-9111-4EE1-AD00-BF4BD0BC2D2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186" y="876340"/>
            <a:ext cx="4174611" cy="237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680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47AE4-708C-49B7-9616-8994B856A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0256"/>
            <a:ext cx="9144000" cy="1051634"/>
          </a:xfrm>
        </p:spPr>
        <p:txBody>
          <a:bodyPr>
            <a:normAutofit/>
          </a:bodyPr>
          <a:lstStyle/>
          <a:p>
            <a:r>
              <a:rPr lang="pt-BR" sz="4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O que é ABNT?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A8D838-6BDD-470F-92A2-234BABF0B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563" y="1863932"/>
            <a:ext cx="5078437" cy="4269582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/>
              <a:t>As normas da ABNT (Associação Brasileira de Normas Técnicas), são baseadas em padrões usados para uniformizar a apresentação de trabalhos científicos em todo o país de forma a facilitar a leitura e compreensão das milhares de pesquisas realizadas todo ano.</a:t>
            </a:r>
          </a:p>
          <a:p>
            <a:pPr algn="just"/>
            <a:endParaRPr lang="pt-BR" sz="2000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/>
              <a:t>Com o uso desses padrões, cientistas, alunos e pesquisadores podem consultar os trabalhos de maneira uniforme, facilitando e agilizando a leitura e a referência.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69744D-561F-480B-9E3A-C7E36DB3D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657" y="2321171"/>
            <a:ext cx="4893191" cy="26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83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145790B-8DE6-4D2F-9772-A9B4769D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546"/>
            <a:ext cx="10515600" cy="1325563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Comic Sans MS" panose="030F0702030302020204" pitchFamily="66" charset="0"/>
              </a:rPr>
              <a:t>Formatação do Trabalho Acadêmico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96BDFE3-8FD6-4861-AAD4-E64D2A956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305" y="2141537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Os trabalhos acadêmicos precisam conter em sua estrutura as normas da ABNT. É importante levar em consideração a seguinte </a:t>
            </a:r>
            <a:r>
              <a:rPr lang="pt-BR" b="1" u="sng" dirty="0"/>
              <a:t>formatação básica: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Layout da Página/margens;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Espaçamento entre linha;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prstClr val="black"/>
                </a:solidFill>
              </a:rPr>
              <a:t>Tipo de Fonte;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prstClr val="black"/>
                </a:solidFill>
              </a:rPr>
              <a:t>Tamanho da fonte;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prstClr val="black"/>
                </a:solidFill>
              </a:rPr>
              <a:t>Alinhamento do texto;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prstClr val="black"/>
                </a:solidFill>
              </a:rPr>
              <a:t>Espaçamento/recuo dos parágrafos;</a:t>
            </a:r>
          </a:p>
          <a:p>
            <a:pPr marL="0" lvl="0" indent="0">
              <a:buNone/>
            </a:pPr>
            <a:endParaRPr lang="pt-BR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50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4BD2-F1F4-4D6B-A404-562A406F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Comic Sans MS" panose="030F0702030302020204" pitchFamily="66" charset="0"/>
              </a:rPr>
              <a:t>A Margem da Página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F268-FAF2-4062-90D2-C563E50AC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79" y="1815769"/>
            <a:ext cx="4451251" cy="386091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/>
              <a:t>a </a:t>
            </a:r>
            <a:r>
              <a:rPr lang="pt-B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ABNT</a:t>
            </a:r>
            <a:r>
              <a:rPr lang="pt-BR" sz="2400" dirty="0"/>
              <a:t> considera que todos os trabalhos devem ser impressos em </a:t>
            </a:r>
            <a:r>
              <a:rPr lang="pt-BR" sz="2400" b="1" dirty="0"/>
              <a:t>formato A4.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400" b="1" dirty="0"/>
          </a:p>
          <a:p>
            <a:pPr marL="0" indent="0" algn="just">
              <a:buNone/>
            </a:pPr>
            <a:endParaRPr lang="pt-BR" sz="24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/>
              <a:t>A principal orientação é de</a:t>
            </a:r>
            <a:r>
              <a:rPr lang="pt-BR" sz="2400" b="1" dirty="0"/>
              <a:t> 3 cm dos lados esquerdo e superior, e de 2 cm na margem inferior e direita</a:t>
            </a:r>
            <a:r>
              <a:rPr lang="pt-BR" sz="2400" dirty="0"/>
              <a:t>.</a:t>
            </a: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endParaRPr lang="pt-BR" b="1" dirty="0"/>
          </a:p>
          <a:p>
            <a:endParaRPr lang="pt-BR" dirty="0"/>
          </a:p>
        </p:txBody>
      </p:sp>
      <p:pic>
        <p:nvPicPr>
          <p:cNvPr id="3076" name="Picture 4" descr="Chapolin Anteninhas Sticker by Multishow for iOS &amp; Android | GIPHY">
            <a:extLst>
              <a:ext uri="{FF2B5EF4-FFF2-40B4-BE49-F238E27FC236}">
                <a16:creationId xmlns:a16="http://schemas.microsoft.com/office/drawing/2014/main" id="{CFC8E3C1-350D-41B9-9DE3-E3E9FB188DC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287" y="2780914"/>
            <a:ext cx="3130735" cy="386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Balão de Fala: Oval 5">
            <a:extLst>
              <a:ext uri="{FF2B5EF4-FFF2-40B4-BE49-F238E27FC236}">
                <a16:creationId xmlns:a16="http://schemas.microsoft.com/office/drawing/2014/main" id="{308CF169-A2E4-45E6-831E-6575429803D0}"/>
              </a:ext>
            </a:extLst>
          </p:cNvPr>
          <p:cNvSpPr/>
          <p:nvPr/>
        </p:nvSpPr>
        <p:spPr>
          <a:xfrm>
            <a:off x="6502889" y="2020815"/>
            <a:ext cx="1703090" cy="1520198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1400" b="1" dirty="0">
                <a:solidFill>
                  <a:prstClr val="black"/>
                </a:solidFill>
              </a:rPr>
              <a:t>Mas como faço isso, professora? </a:t>
            </a:r>
          </a:p>
          <a:p>
            <a:pPr lvl="0" algn="ctr"/>
            <a:endParaRPr lang="pt-BR" sz="1400" b="1" dirty="0">
              <a:solidFill>
                <a:prstClr val="black"/>
              </a:solidFill>
            </a:endParaRPr>
          </a:p>
        </p:txBody>
      </p:sp>
      <p:pic>
        <p:nvPicPr>
          <p:cNvPr id="9" name="Picture 2" descr="C:\Users\Rosangela\Desktop\a86086_84846b891bf04bc9a3ae3ffd28e3478e.gif">
            <a:extLst>
              <a:ext uri="{FF2B5EF4-FFF2-40B4-BE49-F238E27FC236}">
                <a16:creationId xmlns:a16="http://schemas.microsoft.com/office/drawing/2014/main" id="{6570B01A-FEE9-4FC1-BA1C-8284C2181CC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75" y="3802428"/>
            <a:ext cx="2592818" cy="259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Balão de Fala: Oval 6">
            <a:extLst>
              <a:ext uri="{FF2B5EF4-FFF2-40B4-BE49-F238E27FC236}">
                <a16:creationId xmlns:a16="http://schemas.microsoft.com/office/drawing/2014/main" id="{4C00E2DB-A196-4303-8F1F-1087930D13E7}"/>
              </a:ext>
            </a:extLst>
          </p:cNvPr>
          <p:cNvSpPr/>
          <p:nvPr/>
        </p:nvSpPr>
        <p:spPr>
          <a:xfrm>
            <a:off x="9980761" y="1908802"/>
            <a:ext cx="1703090" cy="1073549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Sigam-me os bons! </a:t>
            </a:r>
          </a:p>
        </p:txBody>
      </p:sp>
    </p:spTree>
    <p:extLst>
      <p:ext uri="{BB962C8B-B14F-4D97-AF65-F5344CB8AC3E}">
        <p14:creationId xmlns:p14="http://schemas.microsoft.com/office/powerpoint/2010/main" val="249759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80257-398F-4512-B206-D65C2C7B78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7158" y="365126"/>
            <a:ext cx="105156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0070C0"/>
                </a:solidFill>
                <a:latin typeface="Comic Sans MS" panose="030F0702030302020204" pitchFamily="66" charset="0"/>
              </a:rPr>
              <a:t>Passo a passo– margem da página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F738E-AC8E-47E8-972A-52785A36C6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2031" y="1811557"/>
            <a:ext cx="11493304" cy="489873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 </a:t>
            </a:r>
            <a:r>
              <a:rPr lang="pt-BR" dirty="0">
                <a:solidFill>
                  <a:srgbClr val="333333"/>
                </a:solidFill>
                <a:latin typeface="opensans"/>
              </a:rPr>
              <a:t> </a:t>
            </a:r>
            <a:r>
              <a:rPr lang="pt-BR" dirty="0"/>
              <a:t>Passo 01 </a:t>
            </a:r>
            <a:r>
              <a:rPr lang="pt-BR" dirty="0">
                <a:solidFill>
                  <a:srgbClr val="333333"/>
                </a:solidFill>
                <a:latin typeface="opensans"/>
              </a:rPr>
              <a:t>- </a:t>
            </a:r>
            <a:r>
              <a:rPr lang="pt-BR" sz="2000" dirty="0">
                <a:latin typeface="+mj-lt"/>
              </a:rPr>
              <a:t>Abra a aba "Layout" e clique sobre o botão no canto inferior direito da seção "Configurar página. 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dirty="0">
              <a:solidFill>
                <a:srgbClr val="333333"/>
              </a:solidFill>
              <a:latin typeface="opensans"/>
            </a:endParaRPr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</p:txBody>
      </p:sp>
      <p:pic>
        <p:nvPicPr>
          <p:cNvPr id="4100" name="Picture 4" descr="Acesse as configurações da página — Foto: Reprodução/Helito Beggiora">
            <a:extLst>
              <a:ext uri="{FF2B5EF4-FFF2-40B4-BE49-F238E27FC236}">
                <a16:creationId xmlns:a16="http://schemas.microsoft.com/office/drawing/2014/main" id="{8C24B60C-6383-47F9-8E58-571A74A18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951" y="2954215"/>
            <a:ext cx="6152014" cy="353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546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80257-398F-4512-B206-D65C2C7B78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0883" y="252584"/>
            <a:ext cx="10515600" cy="1154186"/>
          </a:xfrm>
        </p:spPr>
        <p:txBody>
          <a:bodyPr>
            <a:normAutofit/>
          </a:bodyPr>
          <a:lstStyle/>
          <a:p>
            <a:pPr algn="ctr"/>
            <a:r>
              <a:rPr lang="pt-BR" sz="4000" dirty="0">
                <a:solidFill>
                  <a:srgbClr val="0070C0"/>
                </a:solidFill>
                <a:latin typeface="Comic Sans MS" panose="030F0702030302020204" pitchFamily="66" charset="0"/>
              </a:rPr>
              <a:t>Passo a passo– margem da página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F738E-AC8E-47E8-972A-52785A36C6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2030" y="1406770"/>
            <a:ext cx="10515599" cy="530351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000" b="1" dirty="0"/>
              <a:t>Passo 02 </a:t>
            </a:r>
            <a:r>
              <a:rPr lang="pt-BR" sz="2000" dirty="0"/>
              <a:t>– nas configurações de margens, clique em “margens personalizadas” e: </a:t>
            </a:r>
            <a:r>
              <a:rPr lang="pt-BR" sz="2000" u="sng" dirty="0"/>
              <a:t>defina 3 cm para as margens (superior/esquerda) e 2 cm (inferior e direita). </a:t>
            </a:r>
            <a:r>
              <a:rPr lang="pt-BR" sz="2000" dirty="0"/>
              <a:t>Por fim, pressione "OK" para aplicar as modificações.</a:t>
            </a:r>
          </a:p>
        </p:txBody>
      </p:sp>
      <p:pic>
        <p:nvPicPr>
          <p:cNvPr id="5126" name="Picture 6" descr="Alterar margens - Word">
            <a:extLst>
              <a:ext uri="{FF2B5EF4-FFF2-40B4-BE49-F238E27FC236}">
                <a16:creationId xmlns:a16="http://schemas.microsoft.com/office/drawing/2014/main" id="{B9829CDD-74CE-4FE6-A254-3C0724989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420" y="2461846"/>
            <a:ext cx="3672001" cy="429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margens-abnt-03 - Normas ABNT">
            <a:extLst>
              <a:ext uri="{FF2B5EF4-FFF2-40B4-BE49-F238E27FC236}">
                <a16:creationId xmlns:a16="http://schemas.microsoft.com/office/drawing/2014/main" id="{A4E23A54-451E-48A3-94FF-36B20054C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726" y="2532846"/>
            <a:ext cx="3446585" cy="417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8B3CD7BF-AF7C-4E85-B0D1-1A16318DE499}"/>
              </a:ext>
            </a:extLst>
          </p:cNvPr>
          <p:cNvSpPr/>
          <p:nvPr/>
        </p:nvSpPr>
        <p:spPr>
          <a:xfrm>
            <a:off x="4529797" y="6344529"/>
            <a:ext cx="1252025" cy="26088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213DF725-8248-496F-BC05-6FFB8F2D6845}"/>
              </a:ext>
            </a:extLst>
          </p:cNvPr>
          <p:cNvSpPr/>
          <p:nvPr/>
        </p:nvSpPr>
        <p:spPr>
          <a:xfrm>
            <a:off x="9610580" y="5451230"/>
            <a:ext cx="335279" cy="7807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08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D5827-3488-4BA9-B5D8-1CD15490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Comic Sans MS" panose="030F0702030302020204" pitchFamily="66" charset="0"/>
              </a:rPr>
              <a:t>Espaçamento entre linhas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95B836-F277-4BB4-B3A6-7F5C8364D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dirty="0"/>
              <a:t>O espaçamento entre linha de um trabalho acadêmico tem que ser de 1,5. Clica em parágrafo e em seguida espaçamento entre linhas e selecione 1,5.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BF24616-2EAB-4AF5-B362-C3F7D4CE9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254" y="2363055"/>
            <a:ext cx="4024343" cy="412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88112DC-A1E5-46CA-90DC-8638D7356C72}"/>
              </a:ext>
            </a:extLst>
          </p:cNvPr>
          <p:cNvSpPr/>
          <p:nvPr/>
        </p:nvSpPr>
        <p:spPr>
          <a:xfrm>
            <a:off x="8088923" y="4994031"/>
            <a:ext cx="984739" cy="3657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148" name="Picture 4" descr="Ajustar espaçamento entre linhas ou parágrafos – Word 2010 ...">
            <a:extLst>
              <a:ext uri="{FF2B5EF4-FFF2-40B4-BE49-F238E27FC236}">
                <a16:creationId xmlns:a16="http://schemas.microsoft.com/office/drawing/2014/main" id="{9E6C13DA-DAE6-4ECC-9C35-B9859ADB7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2870"/>
            <a:ext cx="5534647" cy="305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F467678-98CC-4E90-98CC-200175CE685B}"/>
              </a:ext>
            </a:extLst>
          </p:cNvPr>
          <p:cNvSpPr/>
          <p:nvPr/>
        </p:nvSpPr>
        <p:spPr>
          <a:xfrm>
            <a:off x="1038664" y="4062205"/>
            <a:ext cx="984739" cy="3657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B2C0CE57-ACB4-469D-9FA2-0197B032CD14}"/>
              </a:ext>
            </a:extLst>
          </p:cNvPr>
          <p:cNvSpPr/>
          <p:nvPr/>
        </p:nvSpPr>
        <p:spPr>
          <a:xfrm>
            <a:off x="4262511" y="4109763"/>
            <a:ext cx="886264" cy="27064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4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76030-DEE8-4F0A-A54B-5683FE546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0554" y="576775"/>
            <a:ext cx="9144000" cy="836783"/>
          </a:xfrm>
        </p:spPr>
        <p:txBody>
          <a:bodyPr>
            <a:normAutofit/>
          </a:bodyPr>
          <a:lstStyle/>
          <a:p>
            <a:r>
              <a:rPr lang="pt-BR" sz="3600" b="1" dirty="0">
                <a:solidFill>
                  <a:srgbClr val="0070C0"/>
                </a:solidFill>
                <a:latin typeface="Comic Sans MS" panose="030F0702030302020204" pitchFamily="66" charset="0"/>
              </a:rPr>
              <a:t>Fonte e tamanho da fonte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F7526A-A28C-42B8-A350-3A8C3DC30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874" y="1773238"/>
            <a:ext cx="10255348" cy="165576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estilo da fonte dever ser </a:t>
            </a:r>
            <a:r>
              <a:rPr lang="pt-BR" b="1" u="sng" dirty="0"/>
              <a:t>Arial ou Times New Roman</a:t>
            </a:r>
            <a:r>
              <a:rPr lang="pt-BR" dirty="0"/>
              <a:t>. Não é permitido em um trabalho acadêmico outro tipo de fonte. O tamanho da fonte é 12cm.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83D7770-1819-4907-A756-9DA3372E5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608" y="3235570"/>
            <a:ext cx="9461218" cy="304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92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0E6AD-C309-445C-8607-88890E6DF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960" y="629529"/>
            <a:ext cx="9144000" cy="970671"/>
          </a:xfrm>
        </p:spPr>
        <p:txBody>
          <a:bodyPr>
            <a:normAutofit/>
          </a:bodyPr>
          <a:lstStyle/>
          <a:p>
            <a:r>
              <a:rPr lang="pt-BR" sz="4400" b="1" dirty="0">
                <a:solidFill>
                  <a:srgbClr val="0070C0"/>
                </a:solidFill>
                <a:latin typeface="Comic Sans MS" panose="030F0702030302020204" pitchFamily="66" charset="0"/>
              </a:rPr>
              <a:t>Alinhamento do Texto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A65638-0D3B-4C93-9FC2-9AA62A608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781" y="2026456"/>
            <a:ext cx="9927101" cy="1655762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O alinhamento do texto dever ser justificado. Clique na opção parágrafo e selecione em justificar.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374063-0F25-459A-9589-DBF8B62B4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" y="3429000"/>
            <a:ext cx="8999727" cy="297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8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FD9F2-F425-40A6-BAD2-A2F5AB38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945" y="257724"/>
            <a:ext cx="10515600" cy="846626"/>
          </a:xfrm>
        </p:spPr>
        <p:txBody>
          <a:bodyPr>
            <a:normAutofit fontScale="90000"/>
          </a:bodyPr>
          <a:lstStyle/>
          <a:p>
            <a:pPr marL="228600" lvl="0" indent="-228600" algn="ctr">
              <a:spcBef>
                <a:spcPts val="1000"/>
              </a:spcBef>
            </a:pPr>
            <a:br>
              <a:rPr lang="pt-BR" sz="2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pt-BR" sz="3600" b="1" dirty="0">
                <a:solidFill>
                  <a:srgbClr val="0070C0"/>
                </a:solidFill>
                <a:latin typeface="Comic Sans MS" panose="030F0702030302020204" pitchFamily="66" charset="0"/>
                <a:ea typeface="+mn-ea"/>
                <a:cs typeface="+mn-cs"/>
              </a:rPr>
              <a:t>Recuo dos parágrafos</a:t>
            </a:r>
            <a:endParaRPr lang="pt-BR" sz="3600" b="1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EA4391-7155-42C5-870C-333A08A3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Ao iniciar cada parágrafo deve-se fazer um recuo de 1,25 ou 1,5. Esse recurso tem na régua.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BE0302-4E75-4B1E-9D8C-AFAB0EFFA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751" y="3175145"/>
            <a:ext cx="6726701" cy="342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59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399</Words>
  <Application>Microsoft Office PowerPoint</Application>
  <PresentationFormat>Widescreen</PresentationFormat>
  <Paragraphs>37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opensans</vt:lpstr>
      <vt:lpstr>Wingdings</vt:lpstr>
      <vt:lpstr>Tema do Office</vt:lpstr>
      <vt:lpstr>            ABNT Associação Brasileira de Normas Técnicas</vt:lpstr>
      <vt:lpstr>O que é ABNT? </vt:lpstr>
      <vt:lpstr>Formatação do Trabalho Acadêmico </vt:lpstr>
      <vt:lpstr>A Margem da Página</vt:lpstr>
      <vt:lpstr>Passo a passo– margem da página</vt:lpstr>
      <vt:lpstr>Passo a passo– margem da página</vt:lpstr>
      <vt:lpstr>Espaçamento entre linhas</vt:lpstr>
      <vt:lpstr>Fonte e tamanho da fonte</vt:lpstr>
      <vt:lpstr>Alinhamento do Texto</vt:lpstr>
      <vt:lpstr> Recuo dos parágrafos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Normas da ABNT</dc:title>
  <dc:creator>Rosângela</dc:creator>
  <cp:lastModifiedBy>Rosângela Barbosa da Silva</cp:lastModifiedBy>
  <cp:revision>25</cp:revision>
  <dcterms:created xsi:type="dcterms:W3CDTF">2020-05-11T20:03:34Z</dcterms:created>
  <dcterms:modified xsi:type="dcterms:W3CDTF">2022-03-21T20:40:25Z</dcterms:modified>
</cp:coreProperties>
</file>