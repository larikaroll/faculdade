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62" r:id="rId3"/>
    <p:sldId id="343" r:id="rId4"/>
    <p:sldId id="344" r:id="rId5"/>
    <p:sldId id="323" r:id="rId6"/>
    <p:sldId id="345" r:id="rId7"/>
    <p:sldId id="324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9" r:id="rId17"/>
    <p:sldId id="383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382" r:id="rId34"/>
    <p:sldId id="388" r:id="rId35"/>
    <p:sldId id="313" r:id="rId36"/>
  </p:sldIdLst>
  <p:sldSz cx="9144000" cy="6858000" type="screen4x3"/>
  <p:notesSz cx="7315200" cy="96012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rgbClr val="000066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rgbClr val="000066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D15B43"/>
    <a:srgbClr val="6AE68A"/>
    <a:srgbClr val="990000"/>
    <a:srgbClr val="FFDD71"/>
    <a:srgbClr val="996600"/>
    <a:srgbClr val="A50021"/>
    <a:srgbClr val="003300"/>
    <a:srgbClr val="CCFF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26" autoAdjust="0"/>
    <p:restoredTop sz="94434" autoAdjust="0"/>
  </p:normalViewPr>
  <p:slideViewPr>
    <p:cSldViewPr>
      <p:cViewPr varScale="1">
        <p:scale>
          <a:sx n="74" d="100"/>
          <a:sy n="74" d="100"/>
        </p:scale>
        <p:origin x="-5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69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142776" y="0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D46DA-808E-42FB-AD57-4F60B9A4FBAA}" type="datetimeFigureOut">
              <a:rPr lang="pt-BR" smtClean="0"/>
              <a:pPr/>
              <a:t>27/08/2019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119069"/>
            <a:ext cx="3170717" cy="4805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142776" y="9119069"/>
            <a:ext cx="3170717" cy="4805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B8736-84EB-4CBD-9D31-2BFF122EBCC1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4389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009" cy="48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484" y="0"/>
            <a:ext cx="3169009" cy="48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80" y="4560303"/>
            <a:ext cx="5852843" cy="4320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069"/>
            <a:ext cx="3169009" cy="48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484" y="9119069"/>
            <a:ext cx="3169009" cy="48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1484ED7-9AF8-49DF-9FBB-913439409FA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038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smtClean="0"/>
              <a:t>Curso CAPM: https://www.youtube.com/playlist?list=PLqdbJp55yaKllcrCKNpyu3rQ6Ss8Y_N_J</a:t>
            </a:r>
          </a:p>
        </p:txBody>
      </p:sp>
    </p:spTree>
    <p:extLst>
      <p:ext uri="{BB962C8B-B14F-4D97-AF65-F5344CB8AC3E}">
        <p14:creationId xmlns:p14="http://schemas.microsoft.com/office/powerpoint/2010/main" val="160735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085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2" descr="PROJECAO_Sem_fundo_branc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6738" y="285750"/>
            <a:ext cx="2930525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fundo_PPT_0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-6350"/>
            <a:ext cx="9144000" cy="686435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chemeClr val="tx2"/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cid:image001.jpg@01D27C9C.A6834990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c.br/Home/WebHome" TargetMode="External"/><Relationship Id="rId7" Type="http://schemas.openxmlformats.org/officeDocument/2006/relationships/hyperlink" Target="https://www.alura.com.br/cursos-online-programaca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aelum.com.br/" TargetMode="External"/><Relationship Id="rId5" Type="http://schemas.openxmlformats.org/officeDocument/2006/relationships/hyperlink" Target="https://www.casadocodigo.com.br/" TargetMode="External"/><Relationship Id="rId4" Type="http://schemas.openxmlformats.org/officeDocument/2006/relationships/hyperlink" Target="http://www.w3school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pt_BR/history.php.php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9512" y="1844824"/>
            <a:ext cx="8712968" cy="2520280"/>
          </a:xfrm>
        </p:spPr>
        <p:txBody>
          <a:bodyPr/>
          <a:lstStyle/>
          <a:p>
            <a:r>
              <a:rPr lang="pt-BR" sz="4000" b="1" dirty="0"/>
              <a:t>Design para WEB</a:t>
            </a: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b="1" dirty="0" smtClean="0"/>
              <a:t/>
            </a:r>
            <a:br>
              <a:rPr lang="pt-BR" b="1" dirty="0" smtClean="0"/>
            </a:br>
            <a:r>
              <a:rPr lang="pt-B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AULA 1 – </a:t>
            </a:r>
            <a:r>
              <a:rPr lang="pt-B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Histórico da Internet e Introdução aos conceitos básicos de </a:t>
            </a:r>
            <a:r>
              <a:rPr lang="pt-B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e do HTML</a:t>
            </a:r>
            <a:endParaRPr lang="pt-BR" sz="3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5085184"/>
            <a:ext cx="6400800" cy="1176536"/>
          </a:xfrm>
        </p:spPr>
        <p:txBody>
          <a:bodyPr/>
          <a:lstStyle/>
          <a:p>
            <a:r>
              <a:rPr lang="pt-BR" sz="2800" dirty="0" smtClean="0"/>
              <a:t>Prof. João Paulo Pimentel</a:t>
            </a:r>
          </a:p>
          <a:p>
            <a:r>
              <a:rPr lang="pt-BR" sz="2800" dirty="0" smtClean="0"/>
              <a:t>joao.pimentel@projecao.br</a:t>
            </a:r>
            <a:endParaRPr lang="pt-BR" sz="2800" dirty="0"/>
          </a:p>
        </p:txBody>
      </p:sp>
      <p:pic>
        <p:nvPicPr>
          <p:cNvPr id="4" name="Imagem 1" descr="cid:image001.jpg@01D27C9C.A6834990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8640"/>
            <a:ext cx="4752528" cy="125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Roteiro da Aula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57547" y="1013154"/>
            <a:ext cx="82089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Apresentação </a:t>
            </a:r>
            <a:r>
              <a:rPr lang="pt-BR" sz="2800" dirty="0" smtClean="0">
                <a:solidFill>
                  <a:schemeClr val="tx1"/>
                </a:solidFill>
              </a:rPr>
              <a:t>Alunos(as) </a:t>
            </a:r>
            <a:r>
              <a:rPr lang="pt-BR" sz="2800" dirty="0">
                <a:solidFill>
                  <a:schemeClr val="tx1"/>
                </a:solidFill>
              </a:rPr>
              <a:t>e </a:t>
            </a:r>
            <a:r>
              <a:rPr lang="pt-BR" sz="2800" dirty="0" smtClean="0">
                <a:solidFill>
                  <a:schemeClr val="tx1"/>
                </a:solidFill>
              </a:rPr>
              <a:t>Professor</a:t>
            </a: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Plano de </a:t>
            </a:r>
            <a:r>
              <a:rPr lang="pt-BR" sz="2800" dirty="0" smtClean="0">
                <a:solidFill>
                  <a:schemeClr val="tx1"/>
                </a:solidFill>
              </a:rPr>
              <a:t>Ensino</a:t>
            </a: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Livros </a:t>
            </a:r>
            <a:r>
              <a:rPr lang="pt-BR" sz="2800" dirty="0">
                <a:solidFill>
                  <a:schemeClr val="tx1"/>
                </a:solidFill>
              </a:rPr>
              <a:t>e sites </a:t>
            </a:r>
            <a:r>
              <a:rPr lang="pt-BR" sz="2800" dirty="0" smtClean="0">
                <a:solidFill>
                  <a:schemeClr val="tx1"/>
                </a:solidFill>
              </a:rPr>
              <a:t>interessantes</a:t>
            </a: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Apresentação </a:t>
            </a:r>
            <a:r>
              <a:rPr lang="pt-BR" sz="2800" dirty="0">
                <a:solidFill>
                  <a:schemeClr val="tx1"/>
                </a:solidFill>
              </a:rPr>
              <a:t>da </a:t>
            </a:r>
            <a:r>
              <a:rPr lang="pt-BR" sz="2800" dirty="0" smtClean="0">
                <a:solidFill>
                  <a:schemeClr val="tx1"/>
                </a:solidFill>
              </a:rPr>
              <a:t>disciplina</a:t>
            </a: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Ambiente </a:t>
            </a:r>
            <a:r>
              <a:rPr lang="pt-BR" sz="2800" dirty="0">
                <a:solidFill>
                  <a:schemeClr val="tx1"/>
                </a:solidFill>
              </a:rPr>
              <a:t>de </a:t>
            </a:r>
            <a:r>
              <a:rPr lang="pt-BR" sz="2800" dirty="0" smtClean="0">
                <a:solidFill>
                  <a:schemeClr val="tx1"/>
                </a:solidFill>
              </a:rPr>
              <a:t>trabalho</a:t>
            </a:r>
            <a:endParaRPr lang="pt-BR" sz="28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Laboratório de Informática </a:t>
            </a:r>
            <a:r>
              <a:rPr lang="pt-BR" sz="2800" dirty="0" smtClean="0">
                <a:solidFill>
                  <a:schemeClr val="tx1"/>
                </a:solidFill>
              </a:rPr>
              <a:t>3</a:t>
            </a: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Sobre a Internet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Internet no Mundo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Internet no Brasil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tx1"/>
                </a:solidFill>
              </a:rPr>
              <a:t>Introdução a Linguagem HTML</a:t>
            </a:r>
            <a:endParaRPr lang="pt-BR" sz="28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 smtClean="0">
                <a:solidFill>
                  <a:schemeClr val="tx1"/>
                </a:solidFill>
              </a:rPr>
              <a:t>Atividade em Grupo e na Internet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01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Livros Interessantes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16" descr="http://opac.cm-serpa.pt/BiblioNet/upload/capas/2011031711085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546" y="3622676"/>
            <a:ext cx="2284249" cy="32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8" descr="https://c1.staticflickr.com/7/6211/6284027348_0e14a5e7b5_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896" y="745413"/>
            <a:ext cx="2583650" cy="3384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mauriciopradella.files.wordpress.com/2011/02/294568_4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3356"/>
            <a:ext cx="2484276" cy="300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biblioteca.ifspcjo.edu.br:81/cgi-bin/koha/opac-image.pl?thumbnail=1&amp;imagenumber=15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5" y="3495548"/>
            <a:ext cx="2305920" cy="334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16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Sugestões de </a:t>
            </a:r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outros livros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410162"/>
            <a:ext cx="333343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1266146"/>
            <a:ext cx="3343275" cy="4619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06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Sites interessantes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124744"/>
            <a:ext cx="8424936" cy="47525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>
                <a:hlinkClick r:id="rId3"/>
              </a:rPr>
              <a:t>http://</a:t>
            </a:r>
            <a:r>
              <a:rPr lang="pt-BR" dirty="0" smtClean="0">
                <a:hlinkClick r:id="rId3"/>
              </a:rPr>
              <a:t>www.w3c.br/Home/WebHome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hlinkClick r:id="rId4"/>
              </a:rPr>
              <a:t>http</a:t>
            </a:r>
            <a:r>
              <a:rPr lang="pt-BR" dirty="0" smtClean="0">
                <a:hlinkClick r:id="rId4"/>
              </a:rPr>
              <a:t>://www.w3schools.com/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hlinkClick r:id="rId5"/>
              </a:rPr>
              <a:t>https://www.casadocodigo.com.br</a:t>
            </a:r>
            <a:r>
              <a:rPr lang="pt-BR" dirty="0" smtClean="0">
                <a:hlinkClick r:id="rId5"/>
              </a:rPr>
              <a:t>/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>
                <a:hlinkClick r:id="rId6"/>
              </a:rPr>
              <a:t>https</a:t>
            </a:r>
            <a:r>
              <a:rPr lang="pt-BR" dirty="0">
                <a:hlinkClick r:id="rId6"/>
              </a:rPr>
              <a:t>://www.caelum.com.br/</a:t>
            </a: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>
                <a:hlinkClick r:id="rId7"/>
              </a:rPr>
              <a:t>https</a:t>
            </a:r>
            <a:r>
              <a:rPr lang="pt-BR" dirty="0">
                <a:hlinkClick r:id="rId7"/>
              </a:rPr>
              <a:t>://www.alura.com.br/cursos-online-programacao</a:t>
            </a:r>
            <a:r>
              <a:rPr lang="pt-BR" dirty="0"/>
              <a:t>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49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Sobre a Internet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9" descr="C:\Users\ivonete.sousa\Desktop\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1214422"/>
            <a:ext cx="7762875" cy="4333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4050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Já parou para pensar na importância que a internet tem nos dias de hoje?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Na </a:t>
            </a:r>
            <a:r>
              <a:rPr lang="pt-BR" sz="2400" dirty="0">
                <a:solidFill>
                  <a:schemeClr val="tx1"/>
                </a:solidFill>
              </a:rPr>
              <a:t>falta que ela faria em sua vida</a:t>
            </a:r>
            <a:r>
              <a:rPr lang="pt-BR" sz="2400" dirty="0" smtClean="0">
                <a:solidFill>
                  <a:schemeClr val="tx1"/>
                </a:solidFill>
              </a:rPr>
              <a:t>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A </a:t>
            </a:r>
            <a:r>
              <a:rPr lang="pt-BR" sz="2400" dirty="0">
                <a:solidFill>
                  <a:schemeClr val="tx1"/>
                </a:solidFill>
              </a:rPr>
              <a:t>rede mundial de computadores, ou Internet, surgiu com um momento bem menos nobre do que ele tem hoje. </a:t>
            </a:r>
            <a:endParaRPr lang="pt-BR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Ela </a:t>
            </a:r>
            <a:r>
              <a:rPr lang="pt-BR" sz="2400" dirty="0">
                <a:solidFill>
                  <a:schemeClr val="tx1"/>
                </a:solidFill>
              </a:rPr>
              <a:t>surgiu em plena </a:t>
            </a:r>
            <a:r>
              <a:rPr lang="pt-BR" sz="2400" b="1" dirty="0">
                <a:solidFill>
                  <a:schemeClr val="tx1"/>
                </a:solidFill>
              </a:rPr>
              <a:t>Guerra Fria </a:t>
            </a:r>
            <a:r>
              <a:rPr lang="pt-BR" sz="2400" dirty="0">
                <a:solidFill>
                  <a:schemeClr val="tx1"/>
                </a:solidFill>
              </a:rPr>
              <a:t>e foi criada com objetivos estritamente militares. </a:t>
            </a:r>
            <a:endParaRPr lang="pt-BR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Ela foi criada para interligar as bases militares dos Estados Unidos e com isso garantir as comunicações norte americanas seriam mantidas mesmo em caso de ataques inimigos que destruíssem os meios convencionais de telecomunicações</a:t>
            </a:r>
            <a:r>
              <a:rPr lang="pt-BR" sz="2400" dirty="0" smtClean="0">
                <a:solidFill>
                  <a:schemeClr val="tx1"/>
                </a:solidFill>
              </a:rPr>
              <a:t>.</a:t>
            </a:r>
            <a:endParaRPr lang="pt-BR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69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A </a:t>
            </a:r>
            <a:r>
              <a:rPr lang="pt-BR" sz="2400" b="1" dirty="0">
                <a:solidFill>
                  <a:schemeClr val="tx1"/>
                </a:solidFill>
              </a:rPr>
              <a:t>ARPANET</a:t>
            </a:r>
            <a:r>
              <a:rPr lang="pt-BR" sz="2400" dirty="0">
                <a:solidFill>
                  <a:schemeClr val="tx1"/>
                </a:solidFill>
              </a:rPr>
              <a:t> - primeira versão da internet - funcionava através de um </a:t>
            </a:r>
            <a:r>
              <a:rPr lang="pt-BR" sz="2400" b="1" dirty="0">
                <a:solidFill>
                  <a:schemeClr val="tx1"/>
                </a:solidFill>
              </a:rPr>
              <a:t>sistema conhecido como chaveamento </a:t>
            </a:r>
            <a:r>
              <a:rPr lang="pt-BR" sz="2400" dirty="0">
                <a:solidFill>
                  <a:schemeClr val="tx1"/>
                </a:solidFill>
              </a:rPr>
              <a:t>de pacotes, que é um sistema de transmissão de dados em rede de computadores no qual as informações são divididas em pequenos pacotes.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O ataque soviético nunca veio, mas o que o Departamento de Defesa dos EUA não sabia era que estavam dando início ao maior fenômeno midiático do século 20, o </a:t>
            </a:r>
            <a:r>
              <a:rPr lang="pt-BR" sz="2400" b="1" dirty="0">
                <a:solidFill>
                  <a:schemeClr val="tx1"/>
                </a:solidFill>
              </a:rPr>
              <a:t>único meio de comunicação que em apenas 4 anos conseguiria atingir cerca de 50 milhões de pessoas</a:t>
            </a:r>
            <a:endParaRPr lang="pt-BR" sz="2400" dirty="0" smtClean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57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Em 29 de Outubro de 1969 ocorreu a transmissão do que pode ser considerado o primeiro </a:t>
            </a:r>
            <a:r>
              <a:rPr lang="pt-BR" sz="2400" dirty="0" smtClean="0">
                <a:solidFill>
                  <a:schemeClr val="tx1"/>
                </a:solidFill>
              </a:rPr>
              <a:t>e-mail </a:t>
            </a:r>
            <a:r>
              <a:rPr lang="pt-BR" sz="2400" dirty="0">
                <a:solidFill>
                  <a:schemeClr val="tx1"/>
                </a:solidFill>
              </a:rPr>
              <a:t>da história.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 O texto desse primeiro e-mail seria "LOGIN", conforme desejava o Professor Leonard </a:t>
            </a:r>
            <a:r>
              <a:rPr lang="pt-BR" sz="2400" dirty="0" err="1">
                <a:solidFill>
                  <a:schemeClr val="tx1"/>
                </a:solidFill>
              </a:rPr>
              <a:t>Kleinrock</a:t>
            </a:r>
            <a:r>
              <a:rPr lang="pt-BR" sz="2400" dirty="0">
                <a:solidFill>
                  <a:schemeClr val="tx1"/>
                </a:solidFill>
              </a:rPr>
              <a:t> da Universidade da Califórnia em Los Angeles (UCLA), mas o computador no Stanford </a:t>
            </a:r>
            <a:r>
              <a:rPr lang="pt-BR" sz="2400" dirty="0" err="1">
                <a:solidFill>
                  <a:schemeClr val="tx1"/>
                </a:solidFill>
              </a:rPr>
              <a:t>Research</a:t>
            </a:r>
            <a:r>
              <a:rPr lang="pt-BR" sz="2400" dirty="0">
                <a:solidFill>
                  <a:schemeClr val="tx1"/>
                </a:solidFill>
              </a:rPr>
              <a:t> </a:t>
            </a:r>
            <a:r>
              <a:rPr lang="pt-BR" sz="2400" dirty="0" err="1">
                <a:solidFill>
                  <a:schemeClr val="tx1"/>
                </a:solidFill>
              </a:rPr>
              <a:t>Institute</a:t>
            </a:r>
            <a:r>
              <a:rPr lang="pt-BR" sz="2400" dirty="0">
                <a:solidFill>
                  <a:schemeClr val="tx1"/>
                </a:solidFill>
              </a:rPr>
              <a:t>, que recebia a mensagem, parou de funcionar após receber a letra "O” </a:t>
            </a:r>
            <a:r>
              <a:rPr lang="pt-BR" sz="2400" dirty="0" smtClean="0">
                <a:solidFill>
                  <a:schemeClr val="tx1"/>
                </a:solidFill>
              </a:rPr>
              <a:t>.</a:t>
            </a:r>
            <a:endParaRPr lang="pt-BR" sz="2400" dirty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90" y="4453928"/>
            <a:ext cx="2537842" cy="214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75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Nas décadas de 1970 e 1980 o mundo entraria em uma era de relativa tranquilidade, onde não havendo mais a iminência de um ataque imediato, o governo dos EUA permitiu que pesquisadores que desenvolvessem, nas suas respectivas universidades, estudos na área de defesa pudessem também entrar na ARPANET.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 Nesse momento a Internet ganhou uma nova função, servindo como um </a:t>
            </a:r>
            <a:r>
              <a:rPr lang="pt-BR" sz="2400" b="1" dirty="0">
                <a:solidFill>
                  <a:schemeClr val="tx1"/>
                </a:solidFill>
              </a:rPr>
              <a:t>importante meio de comunicação acadêmico</a:t>
            </a:r>
            <a:r>
              <a:rPr lang="pt-BR" sz="2400" dirty="0">
                <a:solidFill>
                  <a:schemeClr val="tx1"/>
                </a:solidFill>
              </a:rPr>
              <a:t>. Estudantes e professores universitários, principalmente dos EUA, trocavam ideias, mensagens e descobertas pelas linhas da rede mundial que ainda dava seus primeiros </a:t>
            </a:r>
            <a:r>
              <a:rPr lang="pt-BR" sz="2400" dirty="0" smtClean="0">
                <a:solidFill>
                  <a:schemeClr val="tx1"/>
                </a:solidFill>
              </a:rPr>
              <a:t>passos.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5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836711"/>
            <a:ext cx="5328592" cy="5899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75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Foi somente no ano de 1990 que a Internet começou a alcançar a população em geral, quando o engenheiro inglês </a:t>
            </a:r>
            <a:r>
              <a:rPr lang="pt-BR" sz="2400" b="1" dirty="0">
                <a:solidFill>
                  <a:schemeClr val="tx1"/>
                </a:solidFill>
              </a:rPr>
              <a:t>Tim Bernes-Lee </a:t>
            </a:r>
            <a:r>
              <a:rPr lang="pt-BR" sz="2400" dirty="0">
                <a:solidFill>
                  <a:schemeClr val="tx1"/>
                </a:solidFill>
              </a:rPr>
              <a:t>desenvolveu a </a:t>
            </a:r>
            <a:r>
              <a:rPr lang="pt-BR" sz="2400" b="1" dirty="0">
                <a:solidFill>
                  <a:schemeClr val="tx1"/>
                </a:solidFill>
              </a:rPr>
              <a:t>World </a:t>
            </a:r>
            <a:r>
              <a:rPr lang="pt-BR" sz="2400" b="1" dirty="0" err="1">
                <a:solidFill>
                  <a:schemeClr val="tx1"/>
                </a:solidFill>
              </a:rPr>
              <a:t>Wide</a:t>
            </a:r>
            <a:r>
              <a:rPr lang="pt-BR" sz="2400" b="1" dirty="0">
                <a:solidFill>
                  <a:schemeClr val="tx1"/>
                </a:solidFill>
              </a:rPr>
              <a:t> Web</a:t>
            </a:r>
            <a:r>
              <a:rPr lang="pt-BR" sz="2400" dirty="0">
                <a:solidFill>
                  <a:schemeClr val="tx1"/>
                </a:solidFill>
              </a:rPr>
              <a:t>, o famoso padrão </a:t>
            </a:r>
            <a:r>
              <a:rPr lang="pt-BR" sz="2400" b="1" dirty="0" err="1">
                <a:solidFill>
                  <a:schemeClr val="tx1"/>
                </a:solidFill>
              </a:rPr>
              <a:t>www</a:t>
            </a:r>
            <a:r>
              <a:rPr lang="pt-BR" sz="2400" dirty="0">
                <a:solidFill>
                  <a:schemeClr val="tx1"/>
                </a:solidFill>
              </a:rPr>
              <a:t>, e possibilitando a utilização de uma interface gráfica e a criação de sites mais dinâmicos e visualmente interessantes.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3200" dirty="0" smtClean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5" name="Picture 2" descr="Resultado de imagem para world wide we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010" y="3212976"/>
            <a:ext cx="2880320" cy="289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5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Nessa época o avanço para a </a:t>
            </a:r>
            <a:r>
              <a:rPr lang="pt-BR" sz="2400" b="1" dirty="0">
                <a:solidFill>
                  <a:schemeClr val="tx1"/>
                </a:solidFill>
              </a:rPr>
              <a:t>internet</a:t>
            </a:r>
            <a:r>
              <a:rPr lang="pt-BR" sz="2400" dirty="0">
                <a:solidFill>
                  <a:schemeClr val="tx1"/>
                </a:solidFill>
              </a:rPr>
              <a:t> como conhecemos hoje deu um grande passo quando através da </a:t>
            </a:r>
            <a:r>
              <a:rPr lang="pt-BR" sz="2400" b="1" dirty="0" err="1">
                <a:solidFill>
                  <a:schemeClr val="tx1"/>
                </a:solidFill>
              </a:rPr>
              <a:t>National</a:t>
            </a:r>
            <a:r>
              <a:rPr lang="pt-BR" sz="2400" b="1" dirty="0">
                <a:solidFill>
                  <a:schemeClr val="tx1"/>
                </a:solidFill>
              </a:rPr>
              <a:t> Science Foundation</a:t>
            </a:r>
            <a:r>
              <a:rPr lang="pt-BR" sz="2400" dirty="0">
                <a:solidFill>
                  <a:schemeClr val="tx1"/>
                </a:solidFill>
              </a:rPr>
              <a:t>, o governo norte-americano investiu na criação dos </a:t>
            </a:r>
            <a:r>
              <a:rPr lang="pt-BR" sz="2400" b="1" dirty="0" err="1">
                <a:solidFill>
                  <a:schemeClr val="tx1"/>
                </a:solidFill>
              </a:rPr>
              <a:t>backbones</a:t>
            </a:r>
            <a:r>
              <a:rPr lang="pt-BR" sz="2400" dirty="0">
                <a:solidFill>
                  <a:schemeClr val="tx1"/>
                </a:solidFill>
              </a:rPr>
              <a:t> que são computadores muito potentes conectados por linhas que tem a capacidade de dar vazão a grandes fluxos de dados, como canais de fibra óptica, elos de satélite e elos de transmissão por rádio. </a:t>
            </a:r>
            <a:r>
              <a:rPr lang="pt-BR" sz="2400" b="1" dirty="0">
                <a:solidFill>
                  <a:schemeClr val="tx1"/>
                </a:solidFill>
              </a:rPr>
              <a:t>Basicamente esta é a estrutura física da internet até hoje em </a:t>
            </a:r>
            <a:r>
              <a:rPr lang="pt-BR" sz="2400" b="1" dirty="0" smtClean="0">
                <a:solidFill>
                  <a:schemeClr val="tx1"/>
                </a:solidFill>
              </a:rPr>
              <a:t>dia. 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5" name="Picture 2" descr="Resultado de imagem para backbon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877" y="4509120"/>
            <a:ext cx="2808312" cy="200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5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Mundo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Depois disso a empresa norte-americana </a:t>
            </a:r>
            <a:r>
              <a:rPr lang="pt-BR" sz="2400" b="1" dirty="0">
                <a:solidFill>
                  <a:schemeClr val="tx1"/>
                </a:solidFill>
              </a:rPr>
              <a:t>Netscape</a:t>
            </a:r>
            <a:r>
              <a:rPr lang="pt-BR" sz="2400" dirty="0">
                <a:solidFill>
                  <a:schemeClr val="tx1"/>
                </a:solidFill>
              </a:rPr>
              <a:t> criaria o protocolo </a:t>
            </a:r>
            <a:r>
              <a:rPr lang="pt-BR" sz="2400" b="1" dirty="0">
                <a:solidFill>
                  <a:schemeClr val="tx1"/>
                </a:solidFill>
              </a:rPr>
              <a:t>HTTPS</a:t>
            </a:r>
            <a:r>
              <a:rPr lang="pt-BR" sz="2400" dirty="0">
                <a:solidFill>
                  <a:schemeClr val="tx1"/>
                </a:solidFill>
              </a:rPr>
              <a:t> (</a:t>
            </a:r>
            <a:r>
              <a:rPr lang="pt-BR" sz="2400" b="1" dirty="0" err="1">
                <a:solidFill>
                  <a:schemeClr val="tx1"/>
                </a:solidFill>
              </a:rPr>
              <a:t>HyperText</a:t>
            </a:r>
            <a:r>
              <a:rPr lang="pt-BR" sz="2400" b="1" dirty="0">
                <a:solidFill>
                  <a:schemeClr val="tx1"/>
                </a:solidFill>
              </a:rPr>
              <a:t> </a:t>
            </a:r>
            <a:r>
              <a:rPr lang="pt-BR" sz="2400" b="1" dirty="0" err="1">
                <a:solidFill>
                  <a:schemeClr val="tx1"/>
                </a:solidFill>
              </a:rPr>
              <a:t>Transfer</a:t>
            </a:r>
            <a:r>
              <a:rPr lang="pt-BR" sz="2400" b="1" dirty="0">
                <a:solidFill>
                  <a:schemeClr val="tx1"/>
                </a:solidFill>
              </a:rPr>
              <a:t> </a:t>
            </a:r>
            <a:r>
              <a:rPr lang="pt-BR" sz="2400" b="1" dirty="0" err="1">
                <a:solidFill>
                  <a:schemeClr val="tx1"/>
                </a:solidFill>
              </a:rPr>
              <a:t>Protocol</a:t>
            </a:r>
            <a:r>
              <a:rPr lang="pt-BR" sz="2400" b="1" dirty="0">
                <a:solidFill>
                  <a:schemeClr val="tx1"/>
                </a:solidFill>
              </a:rPr>
              <a:t> </a:t>
            </a:r>
            <a:r>
              <a:rPr lang="pt-BR" sz="2400" b="1" dirty="0" err="1">
                <a:solidFill>
                  <a:schemeClr val="tx1"/>
                </a:solidFill>
              </a:rPr>
              <a:t>Secure</a:t>
            </a:r>
            <a:r>
              <a:rPr lang="pt-BR" sz="2400" dirty="0">
                <a:solidFill>
                  <a:schemeClr val="tx1"/>
                </a:solidFill>
              </a:rPr>
              <a:t>), que possibilitaria o envio de dados criptografados para transações comercias pela internet e promoveria o boom das compras </a:t>
            </a:r>
            <a:r>
              <a:rPr lang="pt-BR" sz="2400" b="1" dirty="0">
                <a:solidFill>
                  <a:schemeClr val="tx1"/>
                </a:solidFill>
              </a:rPr>
              <a:t>online</a:t>
            </a:r>
            <a:r>
              <a:rPr lang="pt-BR" sz="2400" dirty="0">
                <a:solidFill>
                  <a:schemeClr val="tx1"/>
                </a:solidFill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3200" dirty="0" smtClean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68960"/>
            <a:ext cx="8064896" cy="3478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75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Brasil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No </a:t>
            </a:r>
            <a:r>
              <a:rPr lang="pt-BR" sz="2400" b="1" dirty="0">
                <a:solidFill>
                  <a:schemeClr val="tx1"/>
                </a:solidFill>
              </a:rPr>
              <a:t>Brasil</a:t>
            </a:r>
            <a:r>
              <a:rPr lang="pt-BR" sz="2400" dirty="0">
                <a:solidFill>
                  <a:schemeClr val="tx1"/>
                </a:solidFill>
              </a:rPr>
              <a:t>, os primeiros embriões de rede </a:t>
            </a:r>
            <a:r>
              <a:rPr lang="pt-BR" sz="2400" b="1" dirty="0">
                <a:solidFill>
                  <a:schemeClr val="tx1"/>
                </a:solidFill>
              </a:rPr>
              <a:t>surgiram em 1988 </a:t>
            </a:r>
            <a:r>
              <a:rPr lang="pt-BR" sz="2400" dirty="0">
                <a:solidFill>
                  <a:schemeClr val="tx1"/>
                </a:solidFill>
              </a:rPr>
              <a:t>e ligavam universidades do Brasil a instituições nos Estados Unidos.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No mesmo ano, o </a:t>
            </a:r>
            <a:r>
              <a:rPr lang="pt-BR" sz="2400" b="1" dirty="0" err="1">
                <a:solidFill>
                  <a:schemeClr val="tx1"/>
                </a:solidFill>
              </a:rPr>
              <a:t>Ibase</a:t>
            </a:r>
            <a:r>
              <a:rPr lang="pt-BR" sz="2400" dirty="0">
                <a:solidFill>
                  <a:schemeClr val="tx1"/>
                </a:solidFill>
              </a:rPr>
              <a:t> começou a testar o </a:t>
            </a:r>
            <a:r>
              <a:rPr lang="pt-BR" sz="2400" b="1" dirty="0" err="1">
                <a:solidFill>
                  <a:schemeClr val="tx1"/>
                </a:solidFill>
              </a:rPr>
              <a:t>Alternex</a:t>
            </a:r>
            <a:r>
              <a:rPr lang="pt-BR" sz="2400" dirty="0">
                <a:solidFill>
                  <a:schemeClr val="tx1"/>
                </a:solidFill>
              </a:rPr>
              <a:t>, o primeiro serviço brasileiro de </a:t>
            </a:r>
            <a:r>
              <a:rPr lang="pt-BR" sz="2400" b="1" dirty="0">
                <a:solidFill>
                  <a:schemeClr val="tx1"/>
                </a:solidFill>
              </a:rPr>
              <a:t>Internet</a:t>
            </a:r>
            <a:r>
              <a:rPr lang="pt-BR" sz="2400" dirty="0">
                <a:solidFill>
                  <a:schemeClr val="tx1"/>
                </a:solidFill>
              </a:rPr>
              <a:t> não </a:t>
            </a:r>
            <a:r>
              <a:rPr lang="pt-BR" sz="2400" u="sng" dirty="0">
                <a:solidFill>
                  <a:schemeClr val="tx1"/>
                </a:solidFill>
              </a:rPr>
              <a:t>acadêmica e não-governamental.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tx1"/>
                </a:solidFill>
              </a:rPr>
              <a:t>Ele só seria aberto ao público em 1992</a:t>
            </a:r>
            <a:r>
              <a:rPr lang="pt-BR" sz="2400" dirty="0">
                <a:solidFill>
                  <a:schemeClr val="tx1"/>
                </a:solidFill>
              </a:rPr>
              <a:t>.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Em 1989, o Ministério da Ciência e Tecnologia lança um projeto pioneiro, a Rede Nacional de Ensino e Pesquisa (RNP). Existente ainda hoje, a </a:t>
            </a:r>
            <a:r>
              <a:rPr lang="pt-BR" sz="2400" b="1" dirty="0">
                <a:solidFill>
                  <a:schemeClr val="tx1"/>
                </a:solidFill>
              </a:rPr>
              <a:t>RNP é uma organização de interesse público cuja principal missão é operar uma rede acadêmica de alcance nacional</a:t>
            </a:r>
            <a:r>
              <a:rPr lang="pt-BR" sz="2400" dirty="0">
                <a:solidFill>
                  <a:schemeClr val="tx1"/>
                </a:solidFill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54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no Brasil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Quando </a:t>
            </a:r>
            <a:r>
              <a:rPr lang="pt-BR" sz="2400" dirty="0">
                <a:solidFill>
                  <a:schemeClr val="tx1"/>
                </a:solidFill>
              </a:rPr>
              <a:t>foi lançada, a organização tinha o objetivo de capacitar recursos humanos de alta tecnologia e difundir a tecnologia Internet através da implantação do </a:t>
            </a:r>
            <a:r>
              <a:rPr lang="pt-BR" sz="2400" b="1" dirty="0">
                <a:solidFill>
                  <a:schemeClr val="tx1"/>
                </a:solidFill>
              </a:rPr>
              <a:t>primeiro </a:t>
            </a:r>
            <a:r>
              <a:rPr lang="pt-BR" sz="2400" b="1" dirty="0" err="1">
                <a:solidFill>
                  <a:schemeClr val="tx1"/>
                </a:solidFill>
              </a:rPr>
              <a:t>backbone</a:t>
            </a:r>
            <a:r>
              <a:rPr lang="pt-BR" sz="2400" b="1" dirty="0">
                <a:solidFill>
                  <a:schemeClr val="tx1"/>
                </a:solidFill>
              </a:rPr>
              <a:t> </a:t>
            </a:r>
            <a:r>
              <a:rPr lang="pt-BR" sz="2400" b="1" dirty="0" smtClean="0">
                <a:solidFill>
                  <a:schemeClr val="tx1"/>
                </a:solidFill>
              </a:rPr>
              <a:t>nacional.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O primeiro </a:t>
            </a:r>
            <a:r>
              <a:rPr lang="pt-BR" sz="2400" b="1" dirty="0" err="1">
                <a:solidFill>
                  <a:schemeClr val="tx1"/>
                </a:solidFill>
              </a:rPr>
              <a:t>backbone</a:t>
            </a:r>
            <a:r>
              <a:rPr lang="pt-BR" sz="2400" dirty="0">
                <a:solidFill>
                  <a:schemeClr val="tx1"/>
                </a:solidFill>
              </a:rPr>
              <a:t> brasileiro foi inaugurado em </a:t>
            </a:r>
            <a:r>
              <a:rPr lang="pt-BR" sz="2400" b="1" dirty="0">
                <a:solidFill>
                  <a:schemeClr val="tx1"/>
                </a:solidFill>
              </a:rPr>
              <a:t>1991</a:t>
            </a:r>
            <a:r>
              <a:rPr lang="pt-BR" sz="2400" dirty="0">
                <a:solidFill>
                  <a:schemeClr val="tx1"/>
                </a:solidFill>
              </a:rPr>
              <a:t>, destinado exclusivamente à comunidade acadêmica.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Mais tarde, em </a:t>
            </a:r>
            <a:r>
              <a:rPr lang="pt-BR" sz="2400" b="1" dirty="0">
                <a:solidFill>
                  <a:schemeClr val="tx1"/>
                </a:solidFill>
              </a:rPr>
              <a:t>1995</a:t>
            </a:r>
            <a:r>
              <a:rPr lang="pt-BR" sz="2400" dirty="0">
                <a:solidFill>
                  <a:schemeClr val="tx1"/>
                </a:solidFill>
              </a:rPr>
              <a:t>, o governo resolveu abrir o </a:t>
            </a:r>
            <a:r>
              <a:rPr lang="pt-BR" sz="2400" b="1" dirty="0" err="1">
                <a:solidFill>
                  <a:schemeClr val="tx1"/>
                </a:solidFill>
              </a:rPr>
              <a:t>backbone</a:t>
            </a:r>
            <a:r>
              <a:rPr lang="pt-BR" sz="2400" dirty="0">
                <a:solidFill>
                  <a:schemeClr val="tx1"/>
                </a:solidFill>
              </a:rPr>
              <a:t> e fornecer conectividade a provedores de acesso </a:t>
            </a:r>
            <a:r>
              <a:rPr lang="pt-BR" sz="2400" dirty="0" smtClean="0">
                <a:solidFill>
                  <a:schemeClr val="tx1"/>
                </a:solidFill>
              </a:rPr>
              <a:t>comerciais.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/>
              </a:solidFill>
            </a:endParaRPr>
          </a:p>
        </p:txBody>
      </p:sp>
      <p:pic>
        <p:nvPicPr>
          <p:cNvPr id="5" name="Picture 2" descr="http://image.slidesharecdn.com/atrajetoriadainternetnobrasil-msavio-090419193459-phpapp01/95/a-trajetoria-da-internet-no-brasil-69-728.jpg?cb=12875282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293096"/>
            <a:ext cx="4279345" cy="243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78" y="931370"/>
            <a:ext cx="8734408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103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77505"/>
            <a:ext cx="7776863" cy="5262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62025"/>
            <a:ext cx="8186489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90588"/>
            <a:ext cx="8205539" cy="516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55282"/>
            <a:ext cx="8208912" cy="501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842842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12116"/>
            <a:ext cx="7200800" cy="500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7920880" cy="5161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23528" y="980728"/>
            <a:ext cx="83012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u="sng" dirty="0">
                <a:solidFill>
                  <a:schemeClr val="tx1"/>
                </a:solidFill>
              </a:rPr>
              <a:t>Estrutura geral de </a:t>
            </a:r>
            <a:r>
              <a:rPr lang="pt-BR" sz="3200" u="sng" dirty="0" smtClean="0">
                <a:solidFill>
                  <a:schemeClr val="tx1"/>
                </a:solidFill>
              </a:rPr>
              <a:t>um documento </a:t>
            </a:r>
            <a:r>
              <a:rPr lang="pt-BR" sz="3200" u="sng" dirty="0">
                <a:solidFill>
                  <a:schemeClr val="tx1"/>
                </a:solidFill>
              </a:rPr>
              <a:t>HTML</a:t>
            </a:r>
            <a:endParaRPr lang="pt-BR" sz="3200" u="sng" dirty="0" smtClean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38179"/>
            <a:ext cx="8424936" cy="347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9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88" y="985143"/>
            <a:ext cx="8064896" cy="5060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245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947737"/>
            <a:ext cx="8511101" cy="5073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23528" y="980728"/>
            <a:ext cx="830126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Então vamos desenvolver o nosso primeiro exemplo de código HTML? Abram o Bloco de Notas e digitem o seguinte: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78" y="2233841"/>
            <a:ext cx="8301263" cy="4444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23528" y="980728"/>
            <a:ext cx="83012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No bloco de notas: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64" y="1446211"/>
            <a:ext cx="7996867" cy="5381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23528" y="980728"/>
            <a:ext cx="84167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Vamos no menu “Arquivo” .... “Salvar como...” e no Nome: PrimeiraPagina.html e Tipo: Todos os arquivos (*.*)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70" y="1888669"/>
            <a:ext cx="8208912" cy="477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23528" y="980728"/>
            <a:ext cx="83012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Depois vamos clicar com o botão direito do mouse e Abrir com “Internet Explorer” ou “Google </a:t>
            </a:r>
            <a:r>
              <a:rPr lang="pt-BR" sz="2400" dirty="0" err="1" smtClean="0">
                <a:solidFill>
                  <a:schemeClr val="tx1"/>
                </a:solidFill>
              </a:rPr>
              <a:t>Chrome</a:t>
            </a:r>
            <a:r>
              <a:rPr lang="pt-BR" sz="2400" dirty="0" smtClean="0">
                <a:solidFill>
                  <a:schemeClr val="tx1"/>
                </a:solidFill>
              </a:rPr>
              <a:t>” ou ... 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14" y="1844824"/>
            <a:ext cx="869300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 Linguagem HTML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323528" y="980728"/>
            <a:ext cx="83012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</a:rPr>
              <a:t>E vejam o resultado no I.E.:</a:t>
            </a: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90" y="1844824"/>
            <a:ext cx="8400505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 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pt-BR" sz="2400" b="1" dirty="0" smtClean="0">
                <a:solidFill>
                  <a:schemeClr val="tx1"/>
                </a:solidFill>
              </a:rPr>
              <a:t>1) De </a:t>
            </a:r>
            <a:r>
              <a:rPr lang="pt-BR" sz="2400" b="1" dirty="0">
                <a:solidFill>
                  <a:schemeClr val="tx1"/>
                </a:solidFill>
              </a:rPr>
              <a:t>acordo com o W3C a Web é baseada em 3 pilares</a:t>
            </a:r>
            <a:r>
              <a:rPr lang="pt-BR" sz="2400" b="1" dirty="0" smtClean="0">
                <a:solidFill>
                  <a:schemeClr val="tx1"/>
                </a:solidFill>
              </a:rPr>
              <a:t>:</a:t>
            </a:r>
          </a:p>
          <a:p>
            <a:pPr marL="0" indent="0" algn="just">
              <a:buNone/>
            </a:pPr>
            <a:endParaRPr lang="pt-BR" sz="2400" b="1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Um esquema de </a:t>
            </a:r>
            <a:r>
              <a:rPr lang="pt-BR" sz="2400" b="1" dirty="0">
                <a:solidFill>
                  <a:schemeClr val="tx1"/>
                </a:solidFill>
              </a:rPr>
              <a:t>nomes</a:t>
            </a:r>
            <a:r>
              <a:rPr lang="pt-BR" sz="2400" dirty="0">
                <a:solidFill>
                  <a:schemeClr val="tx1"/>
                </a:solidFill>
              </a:rPr>
              <a:t> para localização de fontes de informação na Web, esse esquema chama-se </a:t>
            </a:r>
            <a:r>
              <a:rPr lang="pt-BR" sz="2400" b="1" u="sng" dirty="0" smtClean="0">
                <a:solidFill>
                  <a:schemeClr val="tx1"/>
                </a:solidFill>
              </a:rPr>
              <a:t>URL </a:t>
            </a:r>
            <a:r>
              <a:rPr lang="pt-BR" sz="2400" b="1" u="sng" dirty="0">
                <a:solidFill>
                  <a:schemeClr val="tx1"/>
                </a:solidFill>
              </a:rPr>
              <a:t>- </a:t>
            </a:r>
            <a:r>
              <a:rPr lang="pt-BR" sz="2400" b="1" u="sng" dirty="0" err="1">
                <a:solidFill>
                  <a:schemeClr val="tx1"/>
                </a:solidFill>
              </a:rPr>
              <a:t>Uniform</a:t>
            </a:r>
            <a:r>
              <a:rPr lang="pt-BR" sz="2400" b="1" u="sng" dirty="0">
                <a:solidFill>
                  <a:schemeClr val="tx1"/>
                </a:solidFill>
              </a:rPr>
              <a:t> </a:t>
            </a:r>
            <a:r>
              <a:rPr lang="pt-BR" sz="2400" b="1" u="sng" dirty="0" err="1">
                <a:solidFill>
                  <a:schemeClr val="tx1"/>
                </a:solidFill>
              </a:rPr>
              <a:t>Ressource</a:t>
            </a:r>
            <a:r>
              <a:rPr lang="pt-BR" sz="2400" b="1" u="sng" dirty="0">
                <a:solidFill>
                  <a:schemeClr val="tx1"/>
                </a:solidFill>
              </a:rPr>
              <a:t> </a:t>
            </a:r>
            <a:r>
              <a:rPr lang="pt-BR" sz="2400" b="1" u="sng" dirty="0" err="1">
                <a:solidFill>
                  <a:schemeClr val="tx1"/>
                </a:solidFill>
              </a:rPr>
              <a:t>Locator</a:t>
            </a:r>
            <a:r>
              <a:rPr lang="pt-BR" sz="2400" dirty="0" smtClean="0">
                <a:solidFill>
                  <a:schemeClr val="tx1"/>
                </a:solidFill>
              </a:rPr>
              <a:t>.</a:t>
            </a:r>
            <a:endParaRPr lang="pt-BR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Um Protocolo de acesso para acessar estas fontes, hoje o </a:t>
            </a:r>
            <a:r>
              <a:rPr lang="pt-BR" sz="2400" b="1" u="sng" dirty="0" smtClean="0">
                <a:solidFill>
                  <a:schemeClr val="tx1"/>
                </a:solidFill>
              </a:rPr>
              <a:t>HTTP </a:t>
            </a:r>
            <a:r>
              <a:rPr lang="pt-BR" sz="2400" b="1" u="sng" dirty="0">
                <a:solidFill>
                  <a:schemeClr val="tx1"/>
                </a:solidFill>
              </a:rPr>
              <a:t>- </a:t>
            </a:r>
            <a:r>
              <a:rPr lang="pt-BR" sz="2400" b="1" u="sng" dirty="0" err="1">
                <a:solidFill>
                  <a:schemeClr val="tx1"/>
                </a:solidFill>
              </a:rPr>
              <a:t>HyperText</a:t>
            </a:r>
            <a:r>
              <a:rPr lang="pt-BR" sz="2400" b="1" u="sng" dirty="0">
                <a:solidFill>
                  <a:schemeClr val="tx1"/>
                </a:solidFill>
              </a:rPr>
              <a:t> </a:t>
            </a:r>
            <a:r>
              <a:rPr lang="pt-BR" sz="2400" b="1" u="sng" dirty="0" err="1">
                <a:solidFill>
                  <a:schemeClr val="tx1"/>
                </a:solidFill>
              </a:rPr>
              <a:t>Transfer</a:t>
            </a:r>
            <a:r>
              <a:rPr lang="pt-BR" sz="2400" b="1" u="sng" dirty="0">
                <a:solidFill>
                  <a:schemeClr val="tx1"/>
                </a:solidFill>
              </a:rPr>
              <a:t> </a:t>
            </a:r>
            <a:r>
              <a:rPr lang="pt-BR" sz="2400" b="1" u="sng" dirty="0" err="1">
                <a:solidFill>
                  <a:schemeClr val="tx1"/>
                </a:solidFill>
              </a:rPr>
              <a:t>Protocol</a:t>
            </a:r>
            <a:r>
              <a:rPr lang="pt-BR" sz="2400" b="1" u="sng" dirty="0">
                <a:solidFill>
                  <a:schemeClr val="tx1"/>
                </a:solidFill>
              </a:rPr>
              <a:t> .</a:t>
            </a:r>
            <a:endParaRPr lang="pt-BR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Uma linguagem de </a:t>
            </a:r>
            <a:r>
              <a:rPr lang="pt-BR" sz="2400" b="1" dirty="0" err="1">
                <a:solidFill>
                  <a:schemeClr val="tx1"/>
                </a:solidFill>
              </a:rPr>
              <a:t>Hypertexto</a:t>
            </a:r>
            <a:r>
              <a:rPr lang="pt-BR" sz="2400" dirty="0">
                <a:solidFill>
                  <a:schemeClr val="tx1"/>
                </a:solidFill>
              </a:rPr>
              <a:t>, para a fácil navegação entre as fontes de informação: o </a:t>
            </a:r>
            <a:r>
              <a:rPr lang="pt-BR" sz="2400" b="1" u="sng" dirty="0" smtClean="0">
                <a:solidFill>
                  <a:schemeClr val="tx1"/>
                </a:solidFill>
              </a:rPr>
              <a:t>HTML </a:t>
            </a:r>
            <a:r>
              <a:rPr lang="pt-BR" sz="2400" b="1" u="sng" dirty="0">
                <a:solidFill>
                  <a:schemeClr val="tx1"/>
                </a:solidFill>
              </a:rPr>
              <a:t>- </a:t>
            </a:r>
            <a:r>
              <a:rPr lang="pt-BR" sz="2400" b="1" u="sng" dirty="0" err="1">
                <a:solidFill>
                  <a:schemeClr val="tx1"/>
                </a:solidFill>
              </a:rPr>
              <a:t>HyperText</a:t>
            </a:r>
            <a:r>
              <a:rPr lang="pt-BR" sz="2400" b="1" u="sng" dirty="0">
                <a:solidFill>
                  <a:schemeClr val="tx1"/>
                </a:solidFill>
              </a:rPr>
              <a:t> </a:t>
            </a:r>
            <a:r>
              <a:rPr lang="pt-BR" sz="2400" b="1" u="sng" dirty="0" err="1">
                <a:solidFill>
                  <a:schemeClr val="tx1"/>
                </a:solidFill>
              </a:rPr>
              <a:t>Markup</a:t>
            </a:r>
            <a:r>
              <a:rPr lang="pt-BR" sz="2400" b="1" u="sng" dirty="0">
                <a:solidFill>
                  <a:schemeClr val="tx1"/>
                </a:solidFill>
              </a:rPr>
              <a:t> </a:t>
            </a:r>
            <a:r>
              <a:rPr lang="pt-BR" sz="2400" b="1" u="sng" dirty="0" err="1">
                <a:solidFill>
                  <a:schemeClr val="tx1"/>
                </a:solidFill>
              </a:rPr>
              <a:t>Language</a:t>
            </a:r>
            <a:r>
              <a:rPr lang="pt-BR" sz="2400" dirty="0" smtClean="0">
                <a:solidFill>
                  <a:schemeClr val="tx1"/>
                </a:solidFill>
              </a:rPr>
              <a:t>.</a:t>
            </a:r>
            <a:endParaRPr lang="pt-BR" sz="2400" dirty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pt-BR" sz="2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BR" sz="2400" b="1" i="1" dirty="0">
                <a:solidFill>
                  <a:schemeClr val="tx1"/>
                </a:solidFill>
              </a:rPr>
              <a:t>Faça uma pesquisa na </a:t>
            </a:r>
            <a:r>
              <a:rPr lang="pt-BR" sz="2400" b="1" i="1" u="sng" dirty="0">
                <a:solidFill>
                  <a:schemeClr val="tx1"/>
                </a:solidFill>
              </a:rPr>
              <a:t>internet</a:t>
            </a:r>
            <a:r>
              <a:rPr lang="pt-BR" sz="2400" b="1" i="1" dirty="0">
                <a:solidFill>
                  <a:schemeClr val="tx1"/>
                </a:solidFill>
              </a:rPr>
              <a:t> sobre esses três pilares e registre suas conclusões no caderno.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 smtClean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03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11560" y="58614"/>
            <a:ext cx="7920880" cy="634082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Referências</a:t>
            </a: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03911" y="980728"/>
            <a:ext cx="792088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Livros: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DEITEL, H. M.; DEITEL, P. J.; NIETO, T. R.; FURMANKIEWICZ, Edson. Internet &amp; world </a:t>
            </a:r>
            <a:r>
              <a:rPr lang="pt-BR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wide</a:t>
            </a:r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web: como programar. Porto Alegre: </a:t>
            </a:r>
            <a:r>
              <a:rPr lang="pt-BR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Bookman</a:t>
            </a:r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3"/>
            </a:endParaRPr>
          </a:p>
          <a:p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Site: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https://www.oficinadanet.com.br/post/13707-como-surgiu-a-internet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 smtClean="0">
              <a:solidFill>
                <a:schemeClr val="tx1"/>
              </a:solidFill>
            </a:endParaRPr>
          </a:p>
          <a:p>
            <a:pPr algn="just"/>
            <a:r>
              <a:rPr lang="pt-BR" sz="3200" dirty="0">
                <a:solidFill>
                  <a:schemeClr val="tx1"/>
                </a:solidFill>
              </a:rPr>
              <a:t/>
            </a:r>
            <a:br>
              <a:rPr lang="pt-BR" sz="3200" dirty="0">
                <a:solidFill>
                  <a:schemeClr val="tx1"/>
                </a:solidFill>
              </a:rPr>
            </a:br>
            <a:endParaRPr lang="pt-BR" sz="3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03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pt-BR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BOM DIA!!!!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endParaRPr lang="pt-BR" sz="2800" dirty="0" smtClean="0"/>
          </a:p>
          <a:p>
            <a:pPr marL="0" indent="0" algn="just">
              <a:buNone/>
            </a:pPr>
            <a:r>
              <a:rPr lang="pt-BR" sz="2800" dirty="0"/>
              <a:t>	</a:t>
            </a:r>
            <a:r>
              <a:rPr lang="pt-BR" sz="4800" dirty="0"/>
              <a:t> </a:t>
            </a:r>
            <a:r>
              <a:rPr lang="pt-BR" sz="4800" dirty="0" smtClean="0"/>
              <a:t> Até a próxima aula...</a:t>
            </a:r>
            <a:endParaRPr lang="pt-BR" sz="4800" dirty="0"/>
          </a:p>
          <a:p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34083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21503</TotalTime>
  <Words>1047</Words>
  <Application>Microsoft Office PowerPoint</Application>
  <PresentationFormat>Apresentação na tela (4:3)</PresentationFormat>
  <Paragraphs>123</Paragraphs>
  <Slides>35</Slides>
  <Notes>34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Design padrão</vt:lpstr>
      <vt:lpstr>Design para WEB  AULA 1 – Histórico da Internet e Introdução aos conceitos básicos de Internet e do HTML</vt:lpstr>
      <vt:lpstr>Roteiro da Aula</vt:lpstr>
      <vt:lpstr>Livros Interessantes</vt:lpstr>
      <vt:lpstr>Sugestões de outros livros</vt:lpstr>
      <vt:lpstr>Sites interessantes</vt:lpstr>
      <vt:lpstr>Sobre a Internet</vt:lpstr>
      <vt:lpstr>Internet no Mundo</vt:lpstr>
      <vt:lpstr>Internet no Mundo</vt:lpstr>
      <vt:lpstr>Internet no Mundo</vt:lpstr>
      <vt:lpstr>Internet no Mundo</vt:lpstr>
      <vt:lpstr>Internet no Mundo</vt:lpstr>
      <vt:lpstr>Internet no Mundo</vt:lpstr>
      <vt:lpstr>Internet no Mundo</vt:lpstr>
      <vt:lpstr>Internet no Mundo</vt:lpstr>
      <vt:lpstr>Internet no Brasil</vt:lpstr>
      <vt:lpstr>Internet no Brasil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Introdução a Linguagem HTML</vt:lpstr>
      <vt:lpstr>Atividade </vt:lpstr>
      <vt:lpstr>Referências</vt:lpstr>
      <vt:lpstr>BOM DIA!!!!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Estratégico</dc:title>
  <dc:subject>Gestão de TI</dc:subject>
  <dc:creator>João Paulo Pimentel</dc:creator>
  <cp:lastModifiedBy>João Paulo Pimentel</cp:lastModifiedBy>
  <cp:revision>292</cp:revision>
  <cp:lastPrinted>2017-10-05T21:33:11Z</cp:lastPrinted>
  <dcterms:created xsi:type="dcterms:W3CDTF">2007-10-18T12:39:23Z</dcterms:created>
  <dcterms:modified xsi:type="dcterms:W3CDTF">2019-08-27T13:21:13Z</dcterms:modified>
</cp:coreProperties>
</file>