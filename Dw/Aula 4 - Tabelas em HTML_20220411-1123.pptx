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2" r:id="rId3"/>
    <p:sldId id="389" r:id="rId4"/>
    <p:sldId id="390" r:id="rId5"/>
    <p:sldId id="391" r:id="rId6"/>
    <p:sldId id="413" r:id="rId7"/>
    <p:sldId id="414" r:id="rId8"/>
    <p:sldId id="424" r:id="rId9"/>
    <p:sldId id="415" r:id="rId10"/>
    <p:sldId id="416" r:id="rId11"/>
    <p:sldId id="417" r:id="rId12"/>
    <p:sldId id="419" r:id="rId13"/>
    <p:sldId id="418" r:id="rId14"/>
    <p:sldId id="420" r:id="rId15"/>
    <p:sldId id="421" r:id="rId16"/>
    <p:sldId id="422" r:id="rId17"/>
    <p:sldId id="423" r:id="rId18"/>
    <p:sldId id="392" r:id="rId19"/>
    <p:sldId id="393" r:id="rId20"/>
    <p:sldId id="425" r:id="rId21"/>
    <p:sldId id="426" r:id="rId22"/>
    <p:sldId id="427" r:id="rId23"/>
    <p:sldId id="428" r:id="rId24"/>
    <p:sldId id="429" r:id="rId25"/>
    <p:sldId id="388" r:id="rId26"/>
    <p:sldId id="313" r:id="rId27"/>
  </p:sldIdLst>
  <p:sldSz cx="9144000" cy="6858000" type="screen4x3"/>
  <p:notesSz cx="7315200" cy="96012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48B3EB5-D82A-4DB8-8E4D-F40F5AF33F47}">
          <p14:sldIdLst>
            <p14:sldId id="256"/>
          </p14:sldIdLst>
        </p14:section>
        <p14:section name="Seção sem Título" id="{28051BEF-7892-4FF5-BE70-82ADCEC7C9DE}">
          <p14:sldIdLst>
            <p14:sldId id="262"/>
            <p14:sldId id="389"/>
            <p14:sldId id="390"/>
            <p14:sldId id="391"/>
            <p14:sldId id="413"/>
            <p14:sldId id="414"/>
            <p14:sldId id="424"/>
            <p14:sldId id="415"/>
            <p14:sldId id="416"/>
            <p14:sldId id="417"/>
            <p14:sldId id="419"/>
            <p14:sldId id="418"/>
            <p14:sldId id="420"/>
            <p14:sldId id="421"/>
            <p14:sldId id="422"/>
            <p14:sldId id="423"/>
            <p14:sldId id="392"/>
            <p14:sldId id="393"/>
            <p14:sldId id="425"/>
            <p14:sldId id="426"/>
            <p14:sldId id="427"/>
            <p14:sldId id="428"/>
            <p14:sldId id="429"/>
            <p14:sldId id="388"/>
            <p14:sldId id="313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D15B43"/>
    <a:srgbClr val="6AE68A"/>
    <a:srgbClr val="990000"/>
    <a:srgbClr val="FFDD71"/>
    <a:srgbClr val="996600"/>
    <a:srgbClr val="A50021"/>
    <a:srgbClr val="003300"/>
    <a:srgbClr val="CCFF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42" autoAdjust="0"/>
    <p:restoredTop sz="94434" autoAdjust="0"/>
  </p:normalViewPr>
  <p:slideViewPr>
    <p:cSldViewPr>
      <p:cViewPr varScale="1">
        <p:scale>
          <a:sx n="74" d="100"/>
          <a:sy n="74" d="100"/>
        </p:scale>
        <p:origin x="-13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142776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D46DA-808E-42FB-AD57-4F60B9A4FBAA}" type="datetimeFigureOut">
              <a:rPr lang="pt-BR" smtClean="0"/>
              <a:pPr/>
              <a:t>05/04/2020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119069"/>
            <a:ext cx="3170717" cy="4805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142776" y="9119069"/>
            <a:ext cx="3170717" cy="4805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B8736-84EB-4CBD-9D31-2BFF122EBCC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4389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009" cy="48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484" y="0"/>
            <a:ext cx="3169009" cy="48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3"/>
            <a:ext cx="5852843" cy="432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069"/>
            <a:ext cx="3169009" cy="4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484" y="9119069"/>
            <a:ext cx="3169009" cy="4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1484ED7-9AF8-49DF-9FBB-913439409FA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038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smtClean="0"/>
              <a:t>Curso CAPM: https://www.youtube.com/playlist?list=PLqdbJp55yaKllcrCKNpyu3rQ6Ss8Y_N_J</a:t>
            </a:r>
          </a:p>
        </p:txBody>
      </p:sp>
    </p:spTree>
    <p:extLst>
      <p:ext uri="{BB962C8B-B14F-4D97-AF65-F5344CB8AC3E}">
        <p14:creationId xmlns:p14="http://schemas.microsoft.com/office/powerpoint/2010/main" val="160735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2" descr="PROJECAO_Sem_fundo_branc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6738" y="285750"/>
            <a:ext cx="293052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fundo_PPT_0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-6350"/>
            <a:ext cx="9144000" cy="686435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chemeClr val="tx2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cid:image001.jpg@01D27C9C.A683499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pt_BR/history.php.php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inhadecodigo.com.br/artigo/82/html-avancado.aspx" TargetMode="External"/><Relationship Id="rId4" Type="http://schemas.openxmlformats.org/officeDocument/2006/relationships/hyperlink" Target="https://tutorialehtml.com/pt/html-tutorial-paragrafo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9512" y="1844824"/>
            <a:ext cx="8712968" cy="2520280"/>
          </a:xfrm>
        </p:spPr>
        <p:txBody>
          <a:bodyPr/>
          <a:lstStyle/>
          <a:p>
            <a:r>
              <a:rPr lang="pt-BR" sz="4000" b="1" dirty="0" smtClean="0"/>
              <a:t>Design para WEB</a:t>
            </a: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AULA 4 – Tabelas em HTML </a:t>
            </a:r>
            <a:endParaRPr lang="pt-BR" sz="3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5085184"/>
            <a:ext cx="6400800" cy="1176536"/>
          </a:xfrm>
        </p:spPr>
        <p:txBody>
          <a:bodyPr/>
          <a:lstStyle/>
          <a:p>
            <a:r>
              <a:rPr lang="pt-BR" sz="2800" dirty="0" smtClean="0"/>
              <a:t>Prof. João Paulo Pimentel</a:t>
            </a:r>
          </a:p>
          <a:p>
            <a:r>
              <a:rPr lang="pt-BR" sz="2800" dirty="0" smtClean="0"/>
              <a:t>joao.pimentel@projecao.br</a:t>
            </a:r>
            <a:endParaRPr lang="pt-BR" sz="2800" dirty="0"/>
          </a:p>
        </p:txBody>
      </p:sp>
      <p:pic>
        <p:nvPicPr>
          <p:cNvPr id="4" name="Imagem 1" descr="cid:image001.jpg@01D27C9C.A6834990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8640"/>
            <a:ext cx="4752528" cy="125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Roteiro da Aula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57547" y="1013154"/>
            <a:ext cx="82089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Tabelas em HTML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err="1" smtClean="0">
                <a:solidFill>
                  <a:schemeClr val="tx1"/>
                </a:solidFill>
              </a:rPr>
              <a:t>Tag</a:t>
            </a:r>
            <a:r>
              <a:rPr lang="pt-BR" sz="2800" dirty="0" smtClean="0">
                <a:solidFill>
                  <a:schemeClr val="tx1"/>
                </a:solidFill>
              </a:rPr>
              <a:t> &lt;</a:t>
            </a:r>
            <a:r>
              <a:rPr lang="pt-BR" sz="2800" dirty="0" err="1" smtClean="0">
                <a:solidFill>
                  <a:schemeClr val="tx1"/>
                </a:solidFill>
              </a:rPr>
              <a:t>table</a:t>
            </a:r>
            <a:r>
              <a:rPr lang="pt-BR" sz="2800" dirty="0" smtClean="0">
                <a:solidFill>
                  <a:schemeClr val="tx1"/>
                </a:solidFill>
              </a:rPr>
              <a:t>&gt;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Atributos da </a:t>
            </a:r>
            <a:r>
              <a:rPr lang="pt-BR" sz="2800" dirty="0" err="1" smtClean="0">
                <a:solidFill>
                  <a:schemeClr val="tx1"/>
                </a:solidFill>
              </a:rPr>
              <a:t>tag</a:t>
            </a:r>
            <a:r>
              <a:rPr lang="pt-BR" sz="2800" dirty="0" smtClean="0">
                <a:solidFill>
                  <a:schemeClr val="tx1"/>
                </a:solidFill>
              </a:rPr>
              <a:t> &lt;</a:t>
            </a:r>
            <a:r>
              <a:rPr lang="pt-BR" sz="2800" dirty="0" err="1" smtClean="0">
                <a:solidFill>
                  <a:schemeClr val="tx1"/>
                </a:solidFill>
              </a:rPr>
              <a:t>table</a:t>
            </a:r>
            <a:r>
              <a:rPr lang="pt-BR" sz="2800" dirty="0" smtClean="0">
                <a:solidFill>
                  <a:schemeClr val="tx1"/>
                </a:solidFill>
              </a:rPr>
              <a:t>&gt;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err="1" smtClean="0">
                <a:solidFill>
                  <a:schemeClr val="tx1"/>
                </a:solidFill>
              </a:rPr>
              <a:t>Tags</a:t>
            </a:r>
            <a:r>
              <a:rPr lang="pt-BR" sz="2800" dirty="0" smtClean="0">
                <a:solidFill>
                  <a:schemeClr val="tx1"/>
                </a:solidFill>
              </a:rPr>
              <a:t> &lt;</a:t>
            </a:r>
            <a:r>
              <a:rPr lang="pt-BR" sz="2800" dirty="0" err="1" smtClean="0">
                <a:solidFill>
                  <a:schemeClr val="tx1"/>
                </a:solidFill>
              </a:rPr>
              <a:t>th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tr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td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caption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thead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tfoot</a:t>
            </a:r>
            <a:r>
              <a:rPr lang="pt-BR" sz="2800" dirty="0" smtClean="0">
                <a:solidFill>
                  <a:schemeClr val="tx1"/>
                </a:solidFill>
              </a:rPr>
              <a:t>&gt; &lt;</a:t>
            </a:r>
            <a:r>
              <a:rPr lang="pt-BR" sz="2800" dirty="0" err="1" smtClean="0">
                <a:solidFill>
                  <a:schemeClr val="tx1"/>
                </a:solidFill>
              </a:rPr>
              <a:t>tbody</a:t>
            </a:r>
            <a:r>
              <a:rPr lang="pt-BR" sz="2800" dirty="0" smtClean="0">
                <a:solidFill>
                  <a:schemeClr val="tx1"/>
                </a:solidFill>
              </a:rPr>
              <a:t>&gt;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Cores no fundo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Imagens no fundo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Desenvolvimento </a:t>
            </a:r>
            <a:r>
              <a:rPr lang="pt-BR" sz="2800" dirty="0">
                <a:solidFill>
                  <a:schemeClr val="tx1"/>
                </a:solidFill>
              </a:rPr>
              <a:t>de páginas WEB.</a:t>
            </a:r>
            <a:endParaRPr lang="pt-BR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01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Tabelas 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As tabelas foram </a:t>
            </a:r>
            <a:r>
              <a:rPr lang="pt-BR" sz="2800" u="sng" dirty="0">
                <a:solidFill>
                  <a:schemeClr val="tx1"/>
                </a:solidFill>
              </a:rPr>
              <a:t>uma grande conquista para os autores de documentos para a Web</a:t>
            </a:r>
            <a:r>
              <a:rPr lang="pt-BR" sz="2800" dirty="0">
                <a:solidFill>
                  <a:schemeClr val="tx1"/>
                </a:solidFill>
              </a:rPr>
              <a:t>. </a:t>
            </a: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Tabelas </a:t>
            </a:r>
            <a:r>
              <a:rPr lang="pt-BR" sz="2800" dirty="0">
                <a:solidFill>
                  <a:schemeClr val="tx1"/>
                </a:solidFill>
              </a:rPr>
              <a:t>implementam um conceito importante de design, as "grades", segundo as quais organizamos textos e ilustrações de maneira organizada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As </a:t>
            </a:r>
            <a:r>
              <a:rPr lang="pt-BR" sz="2800" dirty="0">
                <a:solidFill>
                  <a:schemeClr val="tx1"/>
                </a:solidFill>
              </a:rPr>
              <a:t>tabelas podem conter textos, listas, parágrafos, imagens, diversas outras formatações - inclusive outras tabelas. Novas versões de HTML e de navegadores populares vêm acrescentando diversos atributos às </a:t>
            </a:r>
            <a:r>
              <a:rPr lang="pt-BR" sz="2800" dirty="0" smtClean="0">
                <a:solidFill>
                  <a:schemeClr val="tx1"/>
                </a:solidFill>
              </a:rPr>
              <a:t>tabelas.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95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Tabelas 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 formatação de tabelas faz parte da versão 3.0 da linguagem HTML. </a:t>
            </a:r>
            <a:r>
              <a:rPr lang="pt-BR" sz="2800" u="sng" dirty="0">
                <a:solidFill>
                  <a:schemeClr val="tx1"/>
                </a:solidFill>
              </a:rPr>
              <a:t>Manipular tabelas em HTML dá trabalho e necessita de calma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 </a:t>
            </a:r>
            <a:r>
              <a:rPr lang="pt-BR" sz="2800" dirty="0" err="1">
                <a:solidFill>
                  <a:schemeClr val="tx1"/>
                </a:solidFill>
              </a:rPr>
              <a:t>tag</a:t>
            </a:r>
            <a:r>
              <a:rPr lang="pt-BR" sz="2800" dirty="0">
                <a:solidFill>
                  <a:schemeClr val="tx1"/>
                </a:solidFill>
              </a:rPr>
              <a:t> para criação de uma tabela é </a:t>
            </a:r>
            <a:r>
              <a:rPr lang="pt-BR" sz="2800" b="1" dirty="0">
                <a:solidFill>
                  <a:schemeClr val="tx1"/>
                </a:solidFill>
              </a:rPr>
              <a:t>&lt;</a:t>
            </a:r>
            <a:r>
              <a:rPr lang="pt-BR" sz="2800" b="1" dirty="0" err="1">
                <a:solidFill>
                  <a:schemeClr val="tx1"/>
                </a:solidFill>
              </a:rPr>
              <a:t>table</a:t>
            </a:r>
            <a:r>
              <a:rPr lang="pt-BR" sz="2800" b="1" dirty="0">
                <a:solidFill>
                  <a:schemeClr val="tx1"/>
                </a:solidFill>
              </a:rPr>
              <a:t>&gt;</a:t>
            </a:r>
            <a:r>
              <a:rPr lang="pt-BR" sz="2800" dirty="0">
                <a:solidFill>
                  <a:schemeClr val="tx1"/>
                </a:solidFill>
              </a:rPr>
              <a:t>, e dentro dela você coloca atributos importantes para a criação correta da sua tabela. Não esqueça de fazer o fechamento da </a:t>
            </a:r>
            <a:r>
              <a:rPr lang="pt-BR" sz="2800" dirty="0" err="1">
                <a:solidFill>
                  <a:schemeClr val="tx1"/>
                </a:solidFill>
              </a:rPr>
              <a:t>tag</a:t>
            </a:r>
            <a:r>
              <a:rPr lang="pt-BR" sz="2800" dirty="0">
                <a:solidFill>
                  <a:schemeClr val="tx1"/>
                </a:solidFill>
              </a:rPr>
              <a:t> com </a:t>
            </a:r>
            <a:r>
              <a:rPr lang="pt-BR" sz="2800" b="1" dirty="0" smtClean="0">
                <a:solidFill>
                  <a:schemeClr val="tx1"/>
                </a:solidFill>
              </a:rPr>
              <a:t>&lt;/</a:t>
            </a:r>
            <a:r>
              <a:rPr lang="pt-BR" sz="2800" b="1" dirty="0" err="1" smtClean="0">
                <a:solidFill>
                  <a:schemeClr val="tx1"/>
                </a:solidFill>
              </a:rPr>
              <a:t>table</a:t>
            </a:r>
            <a:r>
              <a:rPr lang="pt-BR" sz="2800" b="1" dirty="0" smtClean="0">
                <a:solidFill>
                  <a:schemeClr val="tx1"/>
                </a:solidFill>
              </a:rPr>
              <a:t>&gt;.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Vamos ver nos próximos slides alguns atributos da </a:t>
            </a:r>
            <a:r>
              <a:rPr lang="pt-BR" sz="2800" dirty="0" err="1" smtClean="0">
                <a:solidFill>
                  <a:schemeClr val="tx1"/>
                </a:solidFill>
              </a:rPr>
              <a:t>tag</a:t>
            </a:r>
            <a:r>
              <a:rPr lang="pt-BR" sz="2800" dirty="0" smtClean="0">
                <a:solidFill>
                  <a:schemeClr val="tx1"/>
                </a:solidFill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</a:rPr>
              <a:t>&lt;</a:t>
            </a:r>
            <a:r>
              <a:rPr lang="pt-BR" sz="2800" b="1" dirty="0" err="1" smtClean="0">
                <a:solidFill>
                  <a:schemeClr val="tx1"/>
                </a:solidFill>
              </a:rPr>
              <a:t>table</a:t>
            </a:r>
            <a:r>
              <a:rPr lang="pt-BR" sz="2800" b="1" dirty="0" smtClean="0">
                <a:solidFill>
                  <a:schemeClr val="tx1"/>
                </a:solidFill>
              </a:rPr>
              <a:t>&gt;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tx1"/>
                </a:solidFill>
              </a:rPr>
              <a:t>BORDER</a:t>
            </a:r>
            <a:r>
              <a:rPr lang="pt-BR" sz="2800" dirty="0">
                <a:solidFill>
                  <a:schemeClr val="tx1"/>
                </a:solidFill>
              </a:rPr>
              <a:t>: O elemento delimita uma tabela e a espessura de sua </a:t>
            </a:r>
            <a:r>
              <a:rPr lang="pt-BR" sz="2800" dirty="0" smtClean="0">
                <a:solidFill>
                  <a:schemeClr val="tx1"/>
                </a:solidFill>
              </a:rPr>
              <a:t>borda.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tx1"/>
                </a:solidFill>
              </a:rPr>
              <a:t>WIDTH</a:t>
            </a:r>
            <a:r>
              <a:rPr lang="pt-BR" sz="2800" dirty="0">
                <a:solidFill>
                  <a:schemeClr val="tx1"/>
                </a:solidFill>
              </a:rPr>
              <a:t> e </a:t>
            </a:r>
            <a:r>
              <a:rPr lang="pt-BR" sz="2800" b="1" dirty="0">
                <a:solidFill>
                  <a:schemeClr val="tx1"/>
                </a:solidFill>
              </a:rPr>
              <a:t>HEIGHT</a:t>
            </a:r>
            <a:r>
              <a:rPr lang="pt-BR" sz="2800" dirty="0">
                <a:solidFill>
                  <a:schemeClr val="tx1"/>
                </a:solidFill>
              </a:rPr>
              <a:t>: com esses atributos, você pode definir o tamanho que a tabela vai ocupar na tela. WIDTH (largura), HEIGHT (altura). Eles podem ser em pixels ou em porcentagem. Basicamente o HEIGHT não é </a:t>
            </a:r>
            <a:r>
              <a:rPr lang="pt-BR" sz="2800" dirty="0" smtClean="0">
                <a:solidFill>
                  <a:schemeClr val="tx1"/>
                </a:solidFill>
              </a:rPr>
              <a:t>usado, </a:t>
            </a:r>
            <a:r>
              <a:rPr lang="pt-BR" sz="2800" dirty="0">
                <a:solidFill>
                  <a:schemeClr val="tx1"/>
                </a:solidFill>
              </a:rPr>
              <a:t>mas o valor de largura é muito útil.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11" y="1886921"/>
            <a:ext cx="8380883" cy="151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7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Vejamos como é definida a largura: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Segue um exemplo de tabela com valor de largura que ocupe 75% da tela </a:t>
            </a:r>
            <a:r>
              <a:rPr lang="pt-BR" sz="2800" dirty="0" smtClean="0">
                <a:solidFill>
                  <a:schemeClr val="tx1"/>
                </a:solidFill>
              </a:rPr>
              <a:t>(</a:t>
            </a:r>
            <a:r>
              <a:rPr lang="pt-BR" sz="2800" dirty="0" err="1" smtClean="0">
                <a:solidFill>
                  <a:schemeClr val="tx1"/>
                </a:solidFill>
              </a:rPr>
              <a:t>width</a:t>
            </a:r>
            <a:r>
              <a:rPr lang="pt-BR" sz="2800" dirty="0" smtClean="0">
                <a:solidFill>
                  <a:schemeClr val="tx1"/>
                </a:solidFill>
              </a:rPr>
              <a:t>="</a:t>
            </a:r>
            <a:r>
              <a:rPr lang="pt-BR" sz="2800" dirty="0">
                <a:solidFill>
                  <a:schemeClr val="tx1"/>
                </a:solidFill>
              </a:rPr>
              <a:t>75</a:t>
            </a:r>
            <a:r>
              <a:rPr lang="pt-BR" sz="2800" dirty="0" smtClean="0">
                <a:solidFill>
                  <a:schemeClr val="tx1"/>
                </a:solidFill>
              </a:rPr>
              <a:t>%"):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8508282" cy="155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36" y="4365104"/>
            <a:ext cx="878497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9552" y="908720"/>
            <a:ext cx="8085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Dentro </a:t>
            </a:r>
            <a:r>
              <a:rPr lang="pt-BR" sz="2800" dirty="0" smtClean="0">
                <a:solidFill>
                  <a:schemeClr val="tx1"/>
                </a:solidFill>
              </a:rPr>
              <a:t>da formatação da tabela apresentada no slide anterior, </a:t>
            </a:r>
            <a:r>
              <a:rPr lang="pt-BR" sz="2800" dirty="0">
                <a:solidFill>
                  <a:schemeClr val="tx1"/>
                </a:solidFill>
              </a:rPr>
              <a:t>inserimos as linhas e elementos da tabela: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&lt;TH&gt;...&lt;/TH&gt;:</a:t>
            </a:r>
            <a:r>
              <a:rPr lang="pt-BR" sz="2800" dirty="0">
                <a:solidFill>
                  <a:schemeClr val="tx1"/>
                </a:solidFill>
              </a:rPr>
              <a:t> define um cabeçalho para a </a:t>
            </a:r>
            <a:r>
              <a:rPr lang="pt-BR" sz="2800" dirty="0" smtClean="0">
                <a:solidFill>
                  <a:schemeClr val="tx1"/>
                </a:solidFill>
              </a:rPr>
              <a:t>tabela</a:t>
            </a:r>
          </a:p>
          <a:p>
            <a:pPr algn="just"/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 smtClean="0">
                <a:solidFill>
                  <a:schemeClr val="tx1"/>
                </a:solidFill>
              </a:rPr>
              <a:t>&lt;</a:t>
            </a:r>
            <a:r>
              <a:rPr lang="pt-BR" sz="2800" b="1" dirty="0">
                <a:solidFill>
                  <a:schemeClr val="tx1"/>
                </a:solidFill>
              </a:rPr>
              <a:t>TR&gt;.. &lt;/TR&gt;: </a:t>
            </a:r>
            <a:r>
              <a:rPr lang="pt-BR" sz="2800" dirty="0">
                <a:solidFill>
                  <a:schemeClr val="tx1"/>
                </a:solidFill>
              </a:rPr>
              <a:t>delimita uma </a:t>
            </a:r>
            <a:r>
              <a:rPr lang="pt-BR" sz="2800" dirty="0" smtClean="0">
                <a:solidFill>
                  <a:schemeClr val="tx1"/>
                </a:solidFill>
              </a:rPr>
              <a:t>linha</a:t>
            </a:r>
          </a:p>
          <a:p>
            <a:pPr algn="just"/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&lt;TD&gt;...&lt;/TD&gt;: </a:t>
            </a:r>
            <a:r>
              <a:rPr lang="pt-BR" sz="2800" dirty="0">
                <a:solidFill>
                  <a:schemeClr val="tx1"/>
                </a:solidFill>
              </a:rPr>
              <a:t>delimita uma coluna da </a:t>
            </a:r>
            <a:r>
              <a:rPr lang="pt-BR" sz="2800" dirty="0" smtClean="0">
                <a:solidFill>
                  <a:schemeClr val="tx1"/>
                </a:solidFill>
              </a:rPr>
              <a:t>tabela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9552" y="908720"/>
            <a:ext cx="8085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Veja </a:t>
            </a:r>
            <a:r>
              <a:rPr lang="pt-BR" sz="2800" dirty="0">
                <a:solidFill>
                  <a:schemeClr val="tx1"/>
                </a:solidFill>
              </a:rPr>
              <a:t>como fica o código para a criação de uma tabela com 2 linhas e 2 </a:t>
            </a:r>
            <a:r>
              <a:rPr lang="pt-BR" sz="2800" dirty="0" smtClean="0">
                <a:solidFill>
                  <a:schemeClr val="tx1"/>
                </a:solidFill>
              </a:rPr>
              <a:t>colunas (vamos criar o código e salvar como </a:t>
            </a:r>
            <a:r>
              <a:rPr lang="pt-BR" sz="2800" b="1" dirty="0" smtClean="0">
                <a:solidFill>
                  <a:schemeClr val="tx1"/>
                </a:solidFill>
              </a:rPr>
              <a:t>tabelas.html</a:t>
            </a:r>
            <a:r>
              <a:rPr lang="pt-BR" sz="2800" dirty="0" smtClean="0">
                <a:solidFill>
                  <a:schemeClr val="tx1"/>
                </a:solidFill>
              </a:rPr>
              <a:t>: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1"/>
            <a:ext cx="7704856" cy="381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30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49694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Agora veja a mesma tabela sem bordas (</a:t>
            </a:r>
            <a:r>
              <a:rPr lang="pt-BR" sz="2800" dirty="0" err="1">
                <a:solidFill>
                  <a:schemeClr val="tx1"/>
                </a:solidFill>
              </a:rPr>
              <a:t>border</a:t>
            </a:r>
            <a:r>
              <a:rPr lang="pt-BR" sz="2800" dirty="0">
                <a:solidFill>
                  <a:schemeClr val="tx1"/>
                </a:solidFill>
              </a:rPr>
              <a:t>=0</a:t>
            </a:r>
            <a:r>
              <a:rPr lang="pt-BR" sz="2800" dirty="0" smtClean="0">
                <a:solidFill>
                  <a:schemeClr val="tx1"/>
                </a:solidFill>
              </a:rPr>
              <a:t>):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08" y="2204864"/>
            <a:ext cx="8015086" cy="208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35" y="4537606"/>
            <a:ext cx="7749742" cy="77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Atributos </a:t>
            </a:r>
            <a:r>
              <a:rPr lang="pt-BR" sz="2800" b="1" dirty="0">
                <a:solidFill>
                  <a:schemeClr val="tx1"/>
                </a:solidFill>
              </a:rPr>
              <a:t>COLSPAN</a:t>
            </a:r>
            <a:r>
              <a:rPr lang="pt-BR" sz="2800" dirty="0">
                <a:solidFill>
                  <a:schemeClr val="tx1"/>
                </a:solidFill>
              </a:rPr>
              <a:t> e </a:t>
            </a:r>
            <a:r>
              <a:rPr lang="pt-BR" sz="2800" b="1" dirty="0" smtClean="0">
                <a:solidFill>
                  <a:schemeClr val="tx1"/>
                </a:solidFill>
              </a:rPr>
              <a:t>ROWSPAN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É possível </a:t>
            </a:r>
            <a:r>
              <a:rPr lang="pt-BR" sz="2800" u="sng" dirty="0">
                <a:solidFill>
                  <a:schemeClr val="tx1"/>
                </a:solidFill>
              </a:rPr>
              <a:t>mesclar</a:t>
            </a:r>
            <a:r>
              <a:rPr lang="pt-BR" sz="2800" dirty="0">
                <a:solidFill>
                  <a:schemeClr val="tx1"/>
                </a:solidFill>
              </a:rPr>
              <a:t> </a:t>
            </a:r>
            <a:r>
              <a:rPr lang="pt-BR" sz="2800" b="1" dirty="0">
                <a:solidFill>
                  <a:schemeClr val="tx1"/>
                </a:solidFill>
              </a:rPr>
              <a:t>colunas</a:t>
            </a:r>
            <a:r>
              <a:rPr lang="pt-BR" sz="2800" dirty="0">
                <a:solidFill>
                  <a:schemeClr val="tx1"/>
                </a:solidFill>
              </a:rPr>
              <a:t> e </a:t>
            </a:r>
            <a:r>
              <a:rPr lang="pt-BR" sz="2800" b="1" dirty="0">
                <a:solidFill>
                  <a:schemeClr val="tx1"/>
                </a:solidFill>
              </a:rPr>
              <a:t>linhas</a:t>
            </a:r>
            <a:r>
              <a:rPr lang="pt-BR" sz="2800" dirty="0">
                <a:solidFill>
                  <a:schemeClr val="tx1"/>
                </a:solidFill>
              </a:rPr>
              <a:t>, através dos atributos </a:t>
            </a:r>
            <a:r>
              <a:rPr lang="pt-BR" sz="2800" b="1" dirty="0">
                <a:solidFill>
                  <a:schemeClr val="tx1"/>
                </a:solidFill>
              </a:rPr>
              <a:t>COLSPAN</a:t>
            </a:r>
            <a:r>
              <a:rPr lang="pt-BR" sz="2800" dirty="0">
                <a:solidFill>
                  <a:schemeClr val="tx1"/>
                </a:solidFill>
              </a:rPr>
              <a:t> (para colunas) e </a:t>
            </a:r>
            <a:r>
              <a:rPr lang="pt-BR" sz="2800" b="1" dirty="0">
                <a:solidFill>
                  <a:schemeClr val="tx1"/>
                </a:solidFill>
              </a:rPr>
              <a:t>ROWSPAN</a:t>
            </a:r>
            <a:r>
              <a:rPr lang="pt-BR" sz="2800" dirty="0">
                <a:solidFill>
                  <a:schemeClr val="tx1"/>
                </a:solidFill>
              </a:rPr>
              <a:t> (para linhas</a:t>
            </a:r>
            <a:r>
              <a:rPr lang="pt-BR" sz="2800" dirty="0" smtClean="0">
                <a:solidFill>
                  <a:schemeClr val="tx1"/>
                </a:solidFill>
              </a:rPr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 </a:t>
            </a:r>
            <a:r>
              <a:rPr lang="pt-BR" sz="2800" dirty="0" err="1" smtClean="0">
                <a:solidFill>
                  <a:schemeClr val="tx1"/>
                </a:solidFill>
              </a:rPr>
              <a:t>tag</a:t>
            </a:r>
            <a:r>
              <a:rPr lang="pt-BR" sz="2800" dirty="0" smtClean="0">
                <a:solidFill>
                  <a:schemeClr val="tx1"/>
                </a:solidFill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</a:rPr>
              <a:t>&lt;</a:t>
            </a:r>
            <a:r>
              <a:rPr lang="pt-BR" sz="2800" b="1" dirty="0" err="1" smtClean="0">
                <a:solidFill>
                  <a:schemeClr val="tx1"/>
                </a:solidFill>
              </a:rPr>
              <a:t>caption</a:t>
            </a:r>
            <a:r>
              <a:rPr lang="pt-BR" sz="2800" b="1" dirty="0" smtClean="0">
                <a:solidFill>
                  <a:schemeClr val="tx1"/>
                </a:solidFill>
              </a:rPr>
              <a:t>&gt;&lt;/</a:t>
            </a:r>
            <a:r>
              <a:rPr lang="pt-BR" sz="2800" b="1" dirty="0" err="1" smtClean="0">
                <a:solidFill>
                  <a:schemeClr val="tx1"/>
                </a:solidFill>
              </a:rPr>
              <a:t>caption</a:t>
            </a:r>
            <a:r>
              <a:rPr lang="pt-BR" sz="2800" b="1" dirty="0" smtClean="0">
                <a:solidFill>
                  <a:schemeClr val="tx1"/>
                </a:solidFill>
              </a:rPr>
              <a:t>&gt; </a:t>
            </a:r>
            <a:r>
              <a:rPr lang="pt-BR" sz="2800" dirty="0" smtClean="0">
                <a:solidFill>
                  <a:schemeClr val="tx1"/>
                </a:solidFill>
              </a:rPr>
              <a:t>é para o t</a:t>
            </a:r>
            <a:r>
              <a:rPr lang="pt-BR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ítulo de uma tabela e com as </a:t>
            </a:r>
            <a:r>
              <a:rPr lang="pt-BR" sz="28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tags</a:t>
            </a:r>
            <a:r>
              <a:rPr lang="pt-BR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</a:rPr>
              <a:t>&lt;</a:t>
            </a:r>
            <a:r>
              <a:rPr lang="pt-BR" sz="2800" b="1" dirty="0" err="1" smtClean="0">
                <a:solidFill>
                  <a:schemeClr val="tx1"/>
                </a:solidFill>
              </a:rPr>
              <a:t>thead</a:t>
            </a:r>
            <a:r>
              <a:rPr lang="pt-BR" sz="2800" b="1" dirty="0">
                <a:solidFill>
                  <a:schemeClr val="tx1"/>
                </a:solidFill>
              </a:rPr>
              <a:t>&gt; , &lt;</a:t>
            </a:r>
            <a:r>
              <a:rPr lang="pt-BR" sz="2800" b="1" dirty="0" err="1">
                <a:solidFill>
                  <a:schemeClr val="tx1"/>
                </a:solidFill>
              </a:rPr>
              <a:t>tbody</a:t>
            </a:r>
            <a:r>
              <a:rPr lang="pt-BR" sz="2800" b="1" dirty="0">
                <a:solidFill>
                  <a:schemeClr val="tx1"/>
                </a:solidFill>
              </a:rPr>
              <a:t>&gt; e &lt;</a:t>
            </a:r>
            <a:r>
              <a:rPr lang="pt-BR" sz="2800" b="1" dirty="0" err="1">
                <a:solidFill>
                  <a:schemeClr val="tx1"/>
                </a:solidFill>
              </a:rPr>
              <a:t>tfoot</a:t>
            </a:r>
            <a:r>
              <a:rPr lang="pt-BR" sz="2800" b="1" dirty="0" smtClean="0">
                <a:solidFill>
                  <a:schemeClr val="tx1"/>
                </a:solidFill>
              </a:rPr>
              <a:t>&gt;</a:t>
            </a:r>
            <a:r>
              <a:rPr lang="pt-BR" sz="2800" dirty="0" smtClean="0">
                <a:solidFill>
                  <a:schemeClr val="tx1"/>
                </a:solidFill>
              </a:rPr>
              <a:t>, </a:t>
            </a:r>
            <a:r>
              <a:rPr lang="pt-BR" sz="2800" dirty="0">
                <a:solidFill>
                  <a:schemeClr val="tx1"/>
                </a:solidFill>
              </a:rPr>
              <a:t>podemos dar à nossa tabela, respectivamente, um </a:t>
            </a:r>
            <a:r>
              <a:rPr lang="pt-BR" sz="2800" b="1" dirty="0">
                <a:solidFill>
                  <a:schemeClr val="tx1"/>
                </a:solidFill>
              </a:rPr>
              <a:t>cabeçalho</a:t>
            </a:r>
            <a:r>
              <a:rPr lang="pt-BR" sz="2800" dirty="0">
                <a:solidFill>
                  <a:schemeClr val="tx1"/>
                </a:solidFill>
              </a:rPr>
              <a:t>, definir o "</a:t>
            </a:r>
            <a:r>
              <a:rPr lang="pt-BR" sz="2800" b="1" dirty="0">
                <a:solidFill>
                  <a:schemeClr val="tx1"/>
                </a:solidFill>
              </a:rPr>
              <a:t>corpo</a:t>
            </a:r>
            <a:r>
              <a:rPr lang="pt-BR" sz="2800" dirty="0">
                <a:solidFill>
                  <a:schemeClr val="tx1"/>
                </a:solidFill>
              </a:rPr>
              <a:t>" dos dados e adicionar um </a:t>
            </a:r>
            <a:r>
              <a:rPr lang="pt-BR" sz="2800" b="1" dirty="0" smtClean="0">
                <a:solidFill>
                  <a:schemeClr val="tx1"/>
                </a:solidFill>
              </a:rPr>
              <a:t>rodapé</a:t>
            </a:r>
            <a:r>
              <a:rPr lang="pt-BR" sz="2800" dirty="0" smtClean="0">
                <a:solidFill>
                  <a:schemeClr val="tx1"/>
                </a:solidFill>
              </a:rPr>
              <a:t> na tabela.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Vejamos na prática no próximo código, acrescente no arquivo </a:t>
            </a:r>
            <a:r>
              <a:rPr lang="pt-BR" sz="2800" b="1" dirty="0" smtClean="0">
                <a:solidFill>
                  <a:schemeClr val="tx1"/>
                </a:solidFill>
              </a:rPr>
              <a:t>tabelas.html</a:t>
            </a:r>
            <a:r>
              <a:rPr lang="pt-BR" sz="2800" dirty="0" smtClean="0">
                <a:solidFill>
                  <a:schemeClr val="tx1"/>
                </a:solidFill>
              </a:rPr>
              <a:t> e salve: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8888"/>
            <a:ext cx="8856984" cy="4708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836712"/>
            <a:ext cx="8953500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6712"/>
            <a:ext cx="914400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Vejamos o resultado no </a:t>
            </a:r>
            <a:r>
              <a:rPr lang="pt-BR" sz="2800" b="1" dirty="0" smtClean="0">
                <a:solidFill>
                  <a:schemeClr val="tx1"/>
                </a:solidFill>
              </a:rPr>
              <a:t>Internet Explorer</a:t>
            </a:r>
            <a:r>
              <a:rPr lang="pt-BR" sz="2800" dirty="0" smtClean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5832648" cy="439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tx1"/>
                </a:solidFill>
              </a:rPr>
              <a:t>Cores de </a:t>
            </a:r>
            <a:r>
              <a:rPr lang="pt-BR" sz="2800" b="1" dirty="0" smtClean="0">
                <a:solidFill>
                  <a:schemeClr val="tx1"/>
                </a:solidFill>
              </a:rPr>
              <a:t>fundo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Quando você cria uma tabela, ela tem um </a:t>
            </a:r>
            <a:r>
              <a:rPr lang="pt-BR" sz="2800" b="1" dirty="0">
                <a:solidFill>
                  <a:schemeClr val="tx1"/>
                </a:solidFill>
              </a:rPr>
              <a:t>background</a:t>
            </a:r>
            <a:r>
              <a:rPr lang="pt-BR" sz="2800" dirty="0">
                <a:solidFill>
                  <a:schemeClr val="tx1"/>
                </a:solidFill>
              </a:rPr>
              <a:t> transparente e, portanto, vai sempre assumir a cor do fundo ou a imagem de fundo da página. Mas é possível que você defina uma cor de fundo para cada célula, linha e coluna da sua tabela. Para isso você deve incluir o atributo "</a:t>
            </a:r>
            <a:r>
              <a:rPr lang="pt-BR" sz="2800" b="1" dirty="0">
                <a:solidFill>
                  <a:schemeClr val="tx1"/>
                </a:solidFill>
              </a:rPr>
              <a:t>BGCOLOR</a:t>
            </a:r>
            <a:r>
              <a:rPr lang="pt-BR" sz="2800" dirty="0">
                <a:solidFill>
                  <a:schemeClr val="tx1"/>
                </a:solidFill>
              </a:rPr>
              <a:t>", veja como </a:t>
            </a:r>
            <a:r>
              <a:rPr lang="pt-BR" sz="2800" dirty="0" smtClean="0">
                <a:solidFill>
                  <a:schemeClr val="tx1"/>
                </a:solidFill>
              </a:rPr>
              <a:t>fica no código no próximo slide. Vamos acrescentar na nossa página </a:t>
            </a:r>
            <a:r>
              <a:rPr lang="pt-BR" sz="2800" b="1" dirty="0" smtClean="0">
                <a:solidFill>
                  <a:schemeClr val="tx1"/>
                </a:solidFill>
              </a:rPr>
              <a:t>tabelas.html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94904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Vejamos o resultado no </a:t>
            </a:r>
            <a:r>
              <a:rPr lang="pt-BR" sz="2800" b="1" dirty="0">
                <a:solidFill>
                  <a:schemeClr val="tx1"/>
                </a:solidFill>
              </a:rPr>
              <a:t>Internet Explorer</a:t>
            </a:r>
            <a:r>
              <a:rPr lang="pt-BR" sz="2800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Você </a:t>
            </a:r>
            <a:r>
              <a:rPr lang="pt-BR" sz="2800" dirty="0">
                <a:solidFill>
                  <a:schemeClr val="tx1"/>
                </a:solidFill>
              </a:rPr>
              <a:t>pode definir a cor de fundo de qualquer linha ou coluna que quiser, bastando apenas incluir o atributo junto da </a:t>
            </a:r>
            <a:r>
              <a:rPr lang="pt-BR" sz="2800" dirty="0" err="1">
                <a:solidFill>
                  <a:schemeClr val="tx1"/>
                </a:solidFill>
              </a:rPr>
              <a:t>tag</a:t>
            </a:r>
            <a:r>
              <a:rPr lang="pt-BR" sz="2800" dirty="0">
                <a:solidFill>
                  <a:schemeClr val="tx1"/>
                </a:solidFill>
              </a:rPr>
              <a:t> de linha ou coluna. Da mesma forma você pode incluir </a:t>
            </a:r>
            <a:r>
              <a:rPr lang="pt-BR" sz="2800" dirty="0" err="1">
                <a:solidFill>
                  <a:schemeClr val="tx1"/>
                </a:solidFill>
              </a:rPr>
              <a:t>tags</a:t>
            </a:r>
            <a:r>
              <a:rPr lang="pt-BR" sz="2800" dirty="0">
                <a:solidFill>
                  <a:schemeClr val="tx1"/>
                </a:solidFill>
              </a:rPr>
              <a:t> de fonte e imagem para colocar dentro de cada célula da tabela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32" y="1412777"/>
            <a:ext cx="8298619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7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 smtClean="0">
                <a:solidFill>
                  <a:schemeClr val="tx1"/>
                </a:solidFill>
              </a:rPr>
              <a:t>Imagem </a:t>
            </a:r>
            <a:r>
              <a:rPr lang="pt-BR" sz="2800" b="1" dirty="0">
                <a:solidFill>
                  <a:schemeClr val="tx1"/>
                </a:solidFill>
              </a:rPr>
              <a:t>de </a:t>
            </a:r>
            <a:r>
              <a:rPr lang="pt-BR" sz="2800" b="1" dirty="0" smtClean="0">
                <a:solidFill>
                  <a:schemeClr val="tx1"/>
                </a:solidFill>
              </a:rPr>
              <a:t>fundo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Você também pode colocar em uma tabela uma imagem de fundo, como um papel de parede somente para a tabela. </a:t>
            </a:r>
            <a:endParaRPr lang="pt-BR" sz="2800" dirty="0" smtClean="0">
              <a:solidFill>
                <a:schemeClr val="tx1"/>
              </a:solidFill>
            </a:endParaRPr>
          </a:p>
          <a:p>
            <a:pPr algn="just"/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Para </a:t>
            </a:r>
            <a:r>
              <a:rPr lang="pt-BR" sz="2800" dirty="0">
                <a:solidFill>
                  <a:schemeClr val="tx1"/>
                </a:solidFill>
              </a:rPr>
              <a:t>isso, você só precisa colocar o atributo "</a:t>
            </a:r>
            <a:r>
              <a:rPr lang="pt-BR" sz="2800" b="1" dirty="0">
                <a:solidFill>
                  <a:schemeClr val="tx1"/>
                </a:solidFill>
              </a:rPr>
              <a:t>BACKGROUND</a:t>
            </a:r>
            <a:r>
              <a:rPr lang="pt-BR" sz="2800" dirty="0">
                <a:solidFill>
                  <a:schemeClr val="tx1"/>
                </a:solidFill>
              </a:rPr>
              <a:t>". </a:t>
            </a: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Vamos incluir no nosso código tabelas.html o código apresentado no próximo slide.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77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04875"/>
            <a:ext cx="9157799" cy="5692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69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da 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pt-BR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</a:t>
            </a:r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Vejamos o resultado no </a:t>
            </a:r>
            <a:r>
              <a:rPr lang="pt-BR" sz="2800" b="1" dirty="0">
                <a:solidFill>
                  <a:schemeClr val="tx1"/>
                </a:solidFill>
              </a:rPr>
              <a:t>Internet Explorer</a:t>
            </a:r>
            <a:r>
              <a:rPr lang="pt-BR" sz="2800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Assim como quando colocamos uma imagem de fundo em uma página, a imagem de fundo em uma tabela será "repetida" até preencher todo o espaço da tabela.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Onde </a:t>
            </a:r>
            <a:r>
              <a:rPr lang="pt-BR" sz="2800" dirty="0">
                <a:solidFill>
                  <a:schemeClr val="tx1"/>
                </a:solidFill>
              </a:rPr>
              <a:t>houver uma cor de fundo definida para a célula, coluna ou linha a imagem de fundo não vai aparecer</a:t>
            </a:r>
            <a:r>
              <a:rPr lang="pt-BR" sz="2800" dirty="0" smtClean="0">
                <a:solidFill>
                  <a:schemeClr val="tx1"/>
                </a:solidFill>
              </a:rPr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0" y="1412776"/>
            <a:ext cx="9020575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69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 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– Enviar no Blog.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Construir uma página HTML com as seguintes características utilizando tabelas: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6" y="1862827"/>
            <a:ext cx="8440289" cy="47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69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 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– Enviar no Blog.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Construir uma página HTML envolvendo: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Tabelas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Imagens dentro da tabela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Cores dentro das células da tabela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43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 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– Enviar no Blog.</a:t>
            </a:r>
            <a:endParaRPr lang="pt-BR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08720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Construir uma página HTML com a seguinte tabela: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67" y="2276872"/>
            <a:ext cx="8512967" cy="2817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91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Referências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Livros: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DEITEL, H. M.; DEITEL, P. J.; NIETO, T. R.; FURMANKIEWICZ, Edson. Internet &amp; world </a:t>
            </a:r>
            <a:r>
              <a:rPr lang="pt-BR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wide</a:t>
            </a: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web: como programar. Porto Alegre: </a:t>
            </a:r>
            <a:r>
              <a:rPr lang="pt-BR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Bookman</a:t>
            </a:r>
            <a:r>
              <a:rPr lang="pt-BR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pt-BR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Site: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800" dirty="0">
                <a:solidFill>
                  <a:schemeClr val="tx1"/>
                </a:solidFill>
                <a:hlinkClick r:id="rId4"/>
              </a:rPr>
              <a:t>https://tutorialehtml.com/pt/html-tutorial-paragrafo</a:t>
            </a:r>
            <a:r>
              <a:rPr lang="pt-BR" sz="2800" dirty="0" smtClean="0">
                <a:solidFill>
                  <a:schemeClr val="tx1"/>
                </a:solidFill>
                <a:hlinkClick r:id="rId4"/>
              </a:rPr>
              <a:t>/</a:t>
            </a:r>
            <a:endParaRPr lang="pt-BR" sz="2800" dirty="0" smtClean="0">
              <a:solidFill>
                <a:schemeClr val="tx1"/>
              </a:solidFill>
            </a:endParaRPr>
          </a:p>
          <a:p>
            <a:endParaRPr lang="pt-BR" sz="2800" dirty="0">
              <a:solidFill>
                <a:schemeClr val="tx1"/>
              </a:solidFill>
            </a:endParaRPr>
          </a:p>
          <a:p>
            <a:r>
              <a:rPr lang="pt-BR" sz="2800" dirty="0">
                <a:solidFill>
                  <a:schemeClr val="tx1"/>
                </a:solidFill>
                <a:hlinkClick r:id="rId5"/>
              </a:rPr>
              <a:t>http://</a:t>
            </a:r>
            <a:r>
              <a:rPr lang="pt-BR" sz="2800" dirty="0" smtClean="0">
                <a:solidFill>
                  <a:schemeClr val="tx1"/>
                </a:solidFill>
                <a:hlinkClick r:id="rId5"/>
              </a:rPr>
              <a:t>www.linhadecodigo.com.br/artigo/82/html-avancado.aspx</a:t>
            </a:r>
            <a:endParaRPr lang="pt-BR" sz="2800" dirty="0" smtClean="0">
              <a:solidFill>
                <a:schemeClr val="tx1"/>
              </a:solidFill>
            </a:endParaRPr>
          </a:p>
          <a:p>
            <a:endParaRPr lang="pt-B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 algn="just"/>
            <a:endParaRPr lang="pt-BR" sz="24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hoje é só !!!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4800" dirty="0"/>
              <a:t> </a:t>
            </a:r>
            <a:r>
              <a:rPr lang="pt-BR" sz="4800" dirty="0" smtClean="0"/>
              <a:t> Até a próxima aula...</a:t>
            </a:r>
            <a:endParaRPr lang="pt-BR" sz="4800" dirty="0"/>
          </a:p>
          <a:p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34083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33084</TotalTime>
  <Words>887</Words>
  <Application>Microsoft Office PowerPoint</Application>
  <PresentationFormat>Apresentação na tela (4:3)</PresentationFormat>
  <Paragraphs>120</Paragraphs>
  <Slides>26</Slides>
  <Notes>25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Design padrão</vt:lpstr>
      <vt:lpstr>Design para WEB  AULA 4 – Tabelas em HTML </vt:lpstr>
      <vt:lpstr>Roteiro da Aula</vt:lpstr>
      <vt:lpstr>Tabelas em HTML</vt:lpstr>
      <vt:lpstr>Tabelas em HTML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Atributos da Tag &lt;table&gt;</vt:lpstr>
      <vt:lpstr>Exercício 1 – Enviar no Blog.</vt:lpstr>
      <vt:lpstr>Exercício 2 – Enviar no Blog.</vt:lpstr>
      <vt:lpstr>Exercício 3 – Enviar no Blog.</vt:lpstr>
      <vt:lpstr>Referências</vt:lpstr>
      <vt:lpstr>Por hoje é só 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Estratégico</dc:title>
  <dc:subject>Gestão de TI</dc:subject>
  <dc:creator>João Paulo Pimentel</dc:creator>
  <cp:lastModifiedBy>João Paulo Pimentel</cp:lastModifiedBy>
  <cp:revision>388</cp:revision>
  <cp:lastPrinted>2017-10-05T21:33:11Z</cp:lastPrinted>
  <dcterms:created xsi:type="dcterms:W3CDTF">2007-10-18T12:39:23Z</dcterms:created>
  <dcterms:modified xsi:type="dcterms:W3CDTF">2020-04-05T17:45:11Z</dcterms:modified>
</cp:coreProperties>
</file>